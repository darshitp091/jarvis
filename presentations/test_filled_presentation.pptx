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3-2.svg" ContentType="image/svg+xml"/>
  <Override PartName="/ppt/media/image-3-4.svg" ContentType="image/svg+xml"/>
  <Override PartName="/ppt/media/image-3-6.svg" ContentType="image/svg+xml"/>
  <Override PartName="/ppt/media/image-4-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12"/>
  </p:notesMasterIdLst>
  <p:sldSz cx="9144000" cy="5143500"/>
  <p:notesSz cx="5143500" cy="9144000"/>
  <p:embeddedFontLst>
    <p:embeddedFont>
      <p:font typeface="Epilogue Thin"/>
      <p:regular r:id="rId201314"/>
    </p:embeddedFont>
    <p:embeddedFont>
      <p:font typeface="Epilogue ExtraLight"/>
      <p:regular r:id="rId201315"/>
    </p:embeddedFont>
    <p:embeddedFont>
      <p:font typeface="Epilogue Light"/>
      <p:regular r:id="rId201316"/>
    </p:embeddedFont>
    <p:embeddedFont>
      <p:font typeface="Epilogue"/>
      <p:regular r:id="rId201317"/>
    </p:embeddedFont>
    <p:embeddedFont>
      <p:font typeface="Epilogue Medium"/>
      <p:regular r:id="rId201318"/>
    </p:embeddedFont>
    <p:embeddedFont>
      <p:font typeface="Epilogue SemiBold"/>
      <p:regular r:id="rId201319"/>
    </p:embeddedFont>
    <p:embeddedFont>
      <p:font typeface="Epilogue ExtraBold"/>
      <p:regular r:id="rId201320"/>
    </p:embeddedFont>
    <p:embeddedFont>
      <p:font typeface="Epilogue Black"/>
      <p:regular r:id="rId201321"/>
    </p:embeddedFont>
    <p:embeddedFont>
      <p:font typeface="Epilogue Bold"/>
      <p:regular r:id="rId201322"/>
    </p:embeddedFont>
    <p:embeddedFont>
      <p:font typeface="Fraunces Light"/>
      <p:regular r:id="rId201323"/>
    </p:embeddedFont>
    <p:embeddedFont>
      <p:font typeface="Fraunces Thin"/>
      <p:regular r:id="rId201324"/>
    </p:embeddedFont>
    <p:embeddedFont>
      <p:font typeface="Fraunces ExtraLight"/>
      <p:regular r:id="rId201325"/>
    </p:embeddedFont>
    <p:embeddedFont>
      <p:font typeface="Fraunces"/>
      <p:regular r:id="rId201326"/>
    </p:embeddedFont>
    <p:embeddedFont>
      <p:font typeface="Fraunces Medium"/>
      <p:regular r:id="rId201327"/>
    </p:embeddedFont>
    <p:embeddedFont>
      <p:font typeface="Fraunces SemiBold"/>
      <p:regular r:id="rId201328"/>
    </p:embeddedFont>
    <p:embeddedFont>
      <p:font typeface="Fraunces Bold"/>
      <p:regular r:id="rId201329"/>
    </p:embeddedFont>
    <p:embeddedFont>
      <p:font typeface="Fraunces ExtraBold"/>
      <p:regular r:id="rId201330"/>
    </p:embeddedFont>
    <p:embeddedFont>
      <p:font typeface="Fraunces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font" Target="fonts/201320.fntdata"/><Relationship Id="rId201321" Type="http://schemas.openxmlformats.org/officeDocument/2006/relationships/font" Target="fonts/201321.fntdata"/><Relationship Id="rId201322" Type="http://schemas.openxmlformats.org/officeDocument/2006/relationships/font" Target="fonts/201322.fntdata"/><Relationship Id="rId201323" Type="http://schemas.openxmlformats.org/officeDocument/2006/relationships/font" Target="fonts/201323.fntdata"/><Relationship Id="rId201324" Type="http://schemas.openxmlformats.org/officeDocument/2006/relationships/font" Target="fonts/201324.fntdata"/><Relationship Id="rId201325" Type="http://schemas.openxmlformats.org/officeDocument/2006/relationships/font" Target="fonts/201325.fntdata"/><Relationship Id="rId201326" Type="http://schemas.openxmlformats.org/officeDocument/2006/relationships/font" Target="fonts/201326.fntdata"/><Relationship Id="rId201327" Type="http://schemas.openxmlformats.org/officeDocument/2006/relationships/font" Target="fonts/201327.fntdata"/><Relationship Id="rId201328" Type="http://schemas.openxmlformats.org/officeDocument/2006/relationships/font" Target="fonts/201328.fntdata"/><Relationship Id="rId201329" Type="http://schemas.openxmlformats.org/officeDocument/2006/relationships/font" Target="fonts/201329.fntdata"/><Relationship Id="rId201330" Type="http://schemas.openxmlformats.org/officeDocument/2006/relationships/font" Target="fonts/201330.fntdata"/><Relationship Id="rId201331" Type="http://schemas.openxmlformats.org/officeDocument/2006/relationships/font" Target="fonts/201331.fntdata"/><Relationship Id="rId201332" Type="http://schemas.openxmlformats.org/officeDocument/2006/relationships/font" Target="fonts/201332.fntdata"/><Relationship Id="rId201333" Type="http://schemas.openxmlformats.org/officeDocument/2006/relationships/font" Target="fonts/201333.fntdata"/><Relationship Id="rId201334" Type="http://schemas.openxmlformats.org/officeDocument/2006/relationships/font" Target="fonts/201334.fntdata"/><Relationship Id="rId201335" Type="http://schemas.openxmlformats.org/officeDocument/2006/relationships/font" Target="fonts/20133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283157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60823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Next-Gen AI Platform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70681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Revolutionizing developer productivity with autonomous coding agents.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/>
            </a:r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/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3319909"/>
            <a:ext cx="1626915" cy="215354"/>
          </a:xfrm>
          <a:prstGeom prst="roundRect">
            <a:avLst>
              <a:gd name="adj" fmla="val 22119"/>
            </a:avLst>
          </a:prstGeom>
          <a:solidFill>
            <a:srgbClr val="181E34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010174" y="3362399"/>
            <a:ext cx="191400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INVESTOR PITCH DECK · 2024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Autonomous Coding Architecture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970187"/>
            <a:ext cx="5177582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Full-codebase semantic indexing using AST parsers and tree-sitter queries.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2333402"/>
            <a:ext cx="517758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Multi-agent collaborative planning with hierarchical task delegation.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74988" y="3141390"/>
            <a:ext cx="5177582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Real-time sandboxed environment execution and unit test verification.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/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pPr algn="l" marL="223520" indent="-223520">
              <a:lnSpc>
                <a:spcPct val="133000"/>
              </a:lnSpc>
              <a:buSzPct val="100000"/>
              <a:buChar char="•"/>
            </a:pP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pPr algn="l" marL="223520" indent="-223520">
              <a:lnSpc>
                <a:spcPct val="133000"/>
              </a:lnSpc>
              <a:buSzPct val="100000"/>
              <a:buChar char="•"/>
            </a:pPr>
            <a:endParaRPr lang="en-US" sz="1100" dirty="0"/>
          </a:p>
        </p:txBody>
      </p:sp>
      <p:pic>
        <p:nvPicPr>
          <p:cNvPr id="7" name="Picture 6" descr="test_marp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085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Enterprise Security Controls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6735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Local-first execution pattern ensuring zero proprietary data leakage.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980456"/>
            <a:ext cx="2622724" cy="2522116"/>
          </a:xfrm>
          <a:prstGeom prst="roundRect">
            <a:avLst>
              <a:gd name="adj" fmla="val 2361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2640" y="2126977"/>
            <a:ext cx="425276" cy="425276"/>
          </a:xfrm>
          <a:prstGeom prst="ellipse">
            <a:avLst/>
          </a:prstGeom>
          <a:solidFill>
            <a:srgbClr val="8C98CA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619" y="2243882"/>
            <a:ext cx="191319" cy="191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2640" y="2694012"/>
            <a:ext cx="23296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Role-based access token control and continuous compliance auditing.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2640" y="3221980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Automated vulnerability detection and dependency isolation.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0601" y="1980456"/>
            <a:ext cx="2622724" cy="2522116"/>
          </a:xfrm>
          <a:prstGeom prst="roundRect">
            <a:avLst>
              <a:gd name="adj" fmla="val 2361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407122" y="2126977"/>
            <a:ext cx="425276" cy="425276"/>
          </a:xfrm>
          <a:prstGeom prst="ellipse">
            <a:avLst/>
          </a:prstGeom>
          <a:solidFill>
            <a:srgbClr val="8C98CA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101" y="2243882"/>
            <a:ext cx="191319" cy="1913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7122" y="2694012"/>
            <a:ext cx="23296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[Pillar 2 — Platform Intelligence]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07122" y="3221980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[Describe the second value proposition: how it connects, automates, or scales beyond existing solutions]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25083" y="1980456"/>
            <a:ext cx="2622724" cy="2522116"/>
          </a:xfrm>
          <a:prstGeom prst="roundRect">
            <a:avLst>
              <a:gd name="adj" fmla="val 2361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171605" y="2126977"/>
            <a:ext cx="425276" cy="425276"/>
          </a:xfrm>
          <a:prstGeom prst="ellipse">
            <a:avLst/>
          </a:prstGeom>
          <a:solidFill>
            <a:srgbClr val="8C98CA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8584" y="2243882"/>
            <a:ext cx="191319" cy="1913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1605" y="2694012"/>
            <a:ext cx="23296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[Pillar 3 — Enterprise Reliability]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171605" y="3221980"/>
            <a:ext cx="2329681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[Describe the third value proposition: trust, security, compliance, or uptime guarantees that de-risk adoption]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799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Technical Architecture: The Engine Room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15752"/>
            <a:ext cx="2666926" cy="26669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4152" y="2042071"/>
            <a:ext cx="519841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Proprietary Stack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454152" y="2322686"/>
            <a:ext cx="5198418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Our architecture is built from the ground up — not a patchwork of third-party tools. Every layer is owned, optimized, and defensible.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901306"/>
            <a:ext cx="2652415" cy="848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4907" y="4032945"/>
            <a:ext cx="233198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[Layer 1 — Core Engine]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84907" y="4274641"/>
            <a:ext cx="2331988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[Proprietary technology or algorithm name and function]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5718" y="3901306"/>
            <a:ext cx="2652489" cy="848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34507" y="4032945"/>
            <a:ext cx="233206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[Layer 2 — Data Pipeline]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3434507" y="4274641"/>
            <a:ext cx="2332062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[Real-time processing, latency, throughput specs]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5392" y="3901306"/>
            <a:ext cx="2652415" cy="848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84181" y="4032945"/>
            <a:ext cx="233198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[Layer 3 — API &amp; Integrations]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6184181" y="4274641"/>
            <a:ext cx="2331988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[Enterprise connectivity, partner ecosystem, SDK details]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004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Market Opportunity: Scaling the Frontier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1654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We are targeting a rapidly expanding market with a clear path from initial beachhead to full-scale capture.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873672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$[XX]B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496119" y="2518618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TAM — Total Addressable Market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046586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[Global market size across all segments and geographies we could eventually serve]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72433" y="1873672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$[XX]B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3272433" y="2518618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SAM — Serviceable Available Market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72433" y="3046586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[Segment we can realistically reach with current product and go-to-market strategy]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48747" y="1873672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$[XX]M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6048747" y="2518618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SOM — Serviceable Obtainable Market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48747" y="3046586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[Near-term capture within 24–36 months based on pipeline and traction]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886498"/>
            <a:ext cx="8151763" cy="566961"/>
          </a:xfrm>
          <a:prstGeom prst="roundRect">
            <a:avLst>
              <a:gd name="adj" fmla="val 10502"/>
            </a:avLst>
          </a:prstGeom>
          <a:solidFill>
            <a:srgbClr val="283157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4087267"/>
            <a:ext cx="177180" cy="14175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56816" y="4063678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Market data sourced from [Source Name, Year]. CAGR of [XX]% projected through [Year].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0216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Traction: The Velocity of Adoption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084659"/>
            <a:ext cx="815176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Early momentum validates product-market fit. Our pilots and launches have generated measurable results ahead of schedule.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85465" y="2500536"/>
            <a:ext cx="1634654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[XX]%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053" y="1669926"/>
            <a:ext cx="1993553" cy="19935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3821237"/>
            <a:ext cx="2613422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[Metric 1 — e.g., Pilot Conversion Rate]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96119" y="4311328"/>
            <a:ext cx="2613422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[Context: number of pilots run, industries, or enterprise logos]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754636" y="2500536"/>
            <a:ext cx="1634654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[XX]%</a:t>
            </a:r>
            <a:endParaRPr lang="en-US" sz="2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224" y="1669926"/>
            <a:ext cx="1993553" cy="199355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65289" y="3821237"/>
            <a:ext cx="2613422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[Metric 2 — e.g., Month-over-Month Growth]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265289" y="4311328"/>
            <a:ext cx="2613422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[Context: user acquisition, ARR growth, or engagement uplift]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523806" y="2500536"/>
            <a:ext cx="1634654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[XX]%</a:t>
            </a:r>
            <a:endParaRPr lang="en-US" sz="26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394" y="1669926"/>
            <a:ext cx="1993553" cy="199355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34460" y="3821237"/>
            <a:ext cx="2613422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[Metric 3 — e.g., Customer Retention / NPS]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034460" y="4311328"/>
            <a:ext cx="2613422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[Context: renewal rates, satisfaction scores, or referral data]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Competitive Moat: Defying Industry Norms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354759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Why Stark-Tech Wins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2506638"/>
            <a:ext cx="398673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Competitors rely on legacy architectures, fragmented toolchains, or manual workflows. Our integrated, proprietary stack creates structural advantages that compound over time — and are nearly impossible to replicate quickly.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496119" y="2806154"/>
            <a:ext cx="3986733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[Differentiator 1]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[Specific technical or operational edge]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[Differentiator 2]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[IP, patents, data network effects, or partnerships]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[Differentiator 3]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[Speed, cost, or accuracy advantage vs. incumbents]</a:t>
            </a:r>
            <a:endParaRPr lang="en-US" sz="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8636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Go-to-Market: Tactical Execution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078483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 phased rollout strategy designed to maximize early wins, validate unit economics, and scale with precision.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62475" y="1434480"/>
            <a:ext cx="19050" cy="3310384"/>
          </a:xfrm>
          <a:prstGeom prst="roundRect">
            <a:avLst>
              <a:gd name="adj" fmla="val 297907"/>
            </a:avLst>
          </a:prstGeom>
          <a:solidFill>
            <a:srgbClr val="414A70"/>
          </a:solidFill>
          <a:ln/>
        </p:spPr>
      </p:sp>
      <p:sp>
        <p:nvSpPr>
          <p:cNvPr id="5" name="Shape 3"/>
          <p:cNvSpPr/>
          <p:nvPr/>
        </p:nvSpPr>
        <p:spPr>
          <a:xfrm>
            <a:off x="4033726" y="1576908"/>
            <a:ext cx="405333" cy="19050"/>
          </a:xfrm>
          <a:prstGeom prst="roundRect">
            <a:avLst>
              <a:gd name="adj" fmla="val 297907"/>
            </a:avLst>
          </a:prstGeom>
          <a:solidFill>
            <a:srgbClr val="414A70"/>
          </a:solidFill>
          <a:ln/>
        </p:spPr>
      </p:sp>
      <p:sp>
        <p:nvSpPr>
          <p:cNvPr id="6" name="Shape 4"/>
          <p:cNvSpPr/>
          <p:nvPr/>
        </p:nvSpPr>
        <p:spPr>
          <a:xfrm>
            <a:off x="4420009" y="1434480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70648" y="1459781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96119" y="1480914"/>
            <a:ext cx="34002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Phase 1 — [Launch]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6119" y="1769269"/>
            <a:ext cx="340027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[Target segment, pilot customers, initial geography — Months 1–6]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4941" y="2374925"/>
            <a:ext cx="405333" cy="19050"/>
          </a:xfrm>
          <a:prstGeom prst="roundRect">
            <a:avLst>
              <a:gd name="adj" fmla="val 297907"/>
            </a:avLst>
          </a:prstGeom>
          <a:solidFill>
            <a:srgbClr val="414A70"/>
          </a:solidFill>
          <a:ln/>
        </p:spPr>
      </p:sp>
      <p:sp>
        <p:nvSpPr>
          <p:cNvPr id="11" name="Shape 9"/>
          <p:cNvSpPr/>
          <p:nvPr/>
        </p:nvSpPr>
        <p:spPr>
          <a:xfrm>
            <a:off x="4420009" y="2232496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0648" y="2257797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247605" y="2278931"/>
            <a:ext cx="34002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Phase 2 — [Expand]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47605" y="2567285"/>
            <a:ext cx="340027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[New verticals, enterprise partnerships, channel development — Months 7–12]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33726" y="3067348"/>
            <a:ext cx="405333" cy="19050"/>
          </a:xfrm>
          <a:prstGeom prst="roundRect">
            <a:avLst>
              <a:gd name="adj" fmla="val 297907"/>
            </a:avLst>
          </a:prstGeom>
          <a:solidFill>
            <a:srgbClr val="414A70"/>
          </a:solidFill>
          <a:ln/>
        </p:spPr>
      </p:sp>
      <p:sp>
        <p:nvSpPr>
          <p:cNvPr id="16" name="Shape 14"/>
          <p:cNvSpPr/>
          <p:nvPr/>
        </p:nvSpPr>
        <p:spPr>
          <a:xfrm>
            <a:off x="4420009" y="2924919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0648" y="2950220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96119" y="2971354"/>
            <a:ext cx="34002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Phase 3 — [Scale]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6119" y="3259708"/>
            <a:ext cx="340027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[International expansion, platform APIs, ecosystem growth — Year 2]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4941" y="3759845"/>
            <a:ext cx="405333" cy="19050"/>
          </a:xfrm>
          <a:prstGeom prst="roundRect">
            <a:avLst>
              <a:gd name="adj" fmla="val 297907"/>
            </a:avLst>
          </a:prstGeom>
          <a:solidFill>
            <a:srgbClr val="414A70"/>
          </a:solidFill>
          <a:ln/>
        </p:spPr>
      </p:sp>
      <p:sp>
        <p:nvSpPr>
          <p:cNvPr id="21" name="Shape 19"/>
          <p:cNvSpPr/>
          <p:nvPr/>
        </p:nvSpPr>
        <p:spPr>
          <a:xfrm>
            <a:off x="4420009" y="3617416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70648" y="3642717"/>
            <a:ext cx="202629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247605" y="3663851"/>
            <a:ext cx="34002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Phase 4 — [Dominate]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47605" y="3952205"/>
            <a:ext cx="340027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[Category leadership, M&amp;A activity, full market capture — Year 3+]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5094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Team: Architects of Innovation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210270"/>
            <a:ext cx="860896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World-class operators and engineers with deep domain expertise, prior exits, and the execution track record to deliver.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76239"/>
            <a:ext cx="1511722" cy="15117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254201"/>
            <a:ext cx="260642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[Founder &amp; CEO]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548509"/>
            <a:ext cx="2606427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[Prior company / exit, years of experience, domain expertise — e.g., "Ex-[Company], 10+ years in [sector]"]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787" y="1576239"/>
            <a:ext cx="1511722" cy="15117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8787" y="3254201"/>
            <a:ext cx="260642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[Co-Founder &amp; CTO]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68787" y="3548509"/>
            <a:ext cx="2606427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[Technical background, patents, architecture experience — e.g., "Led engineering at [Company], scaled to [X]M users"]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1454" y="1576239"/>
            <a:ext cx="1511722" cy="151172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1454" y="3254201"/>
            <a:ext cx="2606427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[Key Executive — e.g., COO / CRO]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1454" y="3763045"/>
            <a:ext cx="2606427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[Go-to-market, operations, or fundraising experience — e.g., "Former [Role] at [Company], drove $[X]M ARR"]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2831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87" y="92943"/>
            <a:ext cx="3305026" cy="49575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397520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Ask: Powering the Next Phase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925119" y="1335360"/>
            <a:ext cx="2307134" cy="1330449"/>
          </a:xfrm>
          <a:prstGeom prst="roundRect">
            <a:avLst>
              <a:gd name="adj" fmla="val 3916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53855" y="1464097"/>
            <a:ext cx="2049661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💰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Funding Request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53855" y="1727820"/>
            <a:ext cx="2049661" cy="8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$[XX]M</a:t>
            </a:r>
            <a:pPr algn="l"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[Seed / Series A / Series B]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[Instrument: Equity, SAFE, Convertible]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340748" y="1335360"/>
            <a:ext cx="2307134" cy="1330449"/>
          </a:xfrm>
          <a:prstGeom prst="roundRect">
            <a:avLst>
              <a:gd name="adj" fmla="val 3916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69484" y="1464097"/>
            <a:ext cx="2049661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Use of Funds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69484" y="1727820"/>
            <a:ext cx="2049661" cy="688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[XX]%</a:t>
            </a:r>
            <a:pPr algn="l"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Product &amp; Engineering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[XX]%</a:t>
            </a:r>
            <a:pPr algn="l"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Go-to-Market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[XX]%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— Operations &amp; Talent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925119" y="2774305"/>
            <a:ext cx="4722763" cy="1209526"/>
          </a:xfrm>
          <a:prstGeom prst="roundRect">
            <a:avLst>
              <a:gd name="adj" fmla="val 4307"/>
            </a:avLst>
          </a:prstGeom>
          <a:solidFill>
            <a:srgbClr val="283157"/>
          </a:solidFill>
          <a:ln w="4763">
            <a:solidFill>
              <a:srgbClr val="414A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53855" y="2903041"/>
            <a:ext cx="4465290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🏁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Milestones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053855" y="3166765"/>
            <a:ext cx="4465290" cy="688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[Milestone 1 — e.g., $X ARR by Q4]</a:t>
            </a:r>
            <a:endParaRPr lang="en-US" sz="950" dirty="0"/>
          </a:p>
          <a:p>
            <a:pPr algn="l"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[Milestone 2 — e.g., X enterprise logos]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[Milestone 3 — e.g., International launch]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925119" y="4105870"/>
            <a:ext cx="4722763" cy="640110"/>
          </a:xfrm>
          <a:prstGeom prst="roundRect">
            <a:avLst>
              <a:gd name="adj" fmla="val 8139"/>
            </a:avLst>
          </a:prstGeom>
          <a:solidFill>
            <a:srgbClr val="28315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092" y="4280892"/>
            <a:ext cx="155004" cy="12397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28071" y="4245322"/>
            <a:ext cx="4195837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Ready to build the future together?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Contact us at 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[email@stark-tech.io]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or schedule a follow-up at 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[calendly.com/stark-tech]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2026-07-16T08:53:15Z</dcterms:created>
  <dcterms:modified xsi:type="dcterms:W3CDTF">2026-07-16T08:53:15Z</dcterms:modified>
</cp:coreProperties>
</file>