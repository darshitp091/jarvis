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DADBF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87" y="92943"/>
            <a:ext cx="3305026" cy="49575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62944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Premium Corporate Business Strategy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925119" y="2590577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board-ready framework for turning strategic intent into measurable execution — designed for leadership teams who demand clarity, accountability, and results.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3325490"/>
            <a:ext cx="1221507" cy="188565"/>
          </a:xfrm>
          <a:prstGeom prst="roundRect">
            <a:avLst>
              <a:gd name="adj" fmla="val 22104"/>
            </a:avLst>
          </a:prstGeom>
          <a:solidFill>
            <a:srgbClr val="DADBF1"/>
          </a:solidFill>
          <a:ln/>
        </p:spPr>
      </p:sp>
      <p:sp>
        <p:nvSpPr>
          <p:cNvPr id="7" name="Text 4"/>
          <p:cNvSpPr/>
          <p:nvPr/>
        </p:nvSpPr>
        <p:spPr>
          <a:xfrm>
            <a:off x="3999533" y="3362697"/>
            <a:ext cx="1529879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 PROFESSIONAL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5208612" y="3325490"/>
            <a:ext cx="863203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83026" y="3362697"/>
            <a:ext cx="1171575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BOARD-READY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6133802" y="3325490"/>
            <a:ext cx="1228651" cy="188565"/>
          </a:xfrm>
          <a:prstGeom prst="roundRect">
            <a:avLst>
              <a:gd name="adj" fmla="val 22104"/>
            </a:avLst>
          </a:prstGeom>
          <a:noFill/>
          <a:ln w="4763">
            <a:solidFill>
              <a:srgbClr val="4950B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08216" y="3362697"/>
            <a:ext cx="1537022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2024–2025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18729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Strategy Exists: The Decision Moment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654299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high-performing organization reaches a point where uncertainty must be converted into a single, measurable direction. This strategy exists to create that alignment — giving every stakeholder a shared understanding of what will change, why now, and how success will be proven.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389212"/>
            <a:ext cx="2634555" cy="17355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1530" y="2527474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Board-Ready Alignment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91530" y="2795736"/>
            <a:ext cx="230088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ambiguity with a unified strategic narrative. Every leader leaves this room with the same priorities, the same language, and the same definition of success for the next planning cycle.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2389212"/>
            <a:ext cx="2634630" cy="17355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50059" y="2527474"/>
            <a:ext cx="23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Audience Promise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450059" y="2795736"/>
            <a:ext cx="230095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strategy commits to three things: what will change in the organization, why the timing is critical right now, and the specific metrics that will validate whether we are on track.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13252" y="2389212"/>
            <a:ext cx="2634555" cy="17355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08663" y="2527474"/>
            <a:ext cx="230088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Decision Moment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208663" y="2795736"/>
            <a:ext cx="230088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 are shifting. Competitors are moving. The window to act with advantage is open — but only for those who commit to a clear path and execute with discipline from day one.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2042"/>
            <a:ext cx="8151763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SWOT Snapshot: What We Can Win With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63439"/>
            <a:ext cx="8151763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mapping threats, we must be honest about where we already lead. This quadrant captures the internal capabilities and external openings that form the foundation of our competitive advantage — the assets we can deploy immediately.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465" y="1446535"/>
            <a:ext cx="4563070" cy="256669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96119" y="4135859"/>
            <a:ext cx="8151763" cy="625599"/>
          </a:xfrm>
          <a:prstGeom prst="roundRect">
            <a:avLst>
              <a:gd name="adj" fmla="val 7807"/>
            </a:avLst>
          </a:prstGeom>
          <a:solidFill>
            <a:srgbClr val="DADBF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53" y="4298454"/>
            <a:ext cx="145331" cy="1162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3919" y="4273897"/>
            <a:ext cx="765772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 Lens:</a:t>
            </a:r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Strengths and Opportunities are your offensive playbook. Weaknesses and Threats are your defensive priorities. The goal is to deploy strengths against opportunities faster than competitors can respond.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1057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SWOT Snapshot: What Could Break 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42988"/>
            <a:ext cx="434942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Threats &amp; Risk Posture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96119" y="1353889"/>
            <a:ext cx="4349428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 are not abstract — they are specific competitive and external forces actively eroding margin or growth. Each threat requires a named mitigation action, not a passive "we'll monitor it" stance.</a:t>
            </a:r>
            <a:endParaRPr lang="en-US" sz="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1883" y="2074366"/>
            <a:ext cx="183133" cy="18313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2894" y="2070646"/>
            <a:ext cx="395265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Pressure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92894" y="2381548"/>
            <a:ext cx="395265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entrants and aggressive incumbents compressing pricing power and customer acquisition costs.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883" y="3013323"/>
            <a:ext cx="183133" cy="18313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92894" y="3009602"/>
            <a:ext cx="395265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 Constraints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92894" y="3320504"/>
            <a:ext cx="395265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shifts, supply chain fragility, and macroeconomic volatility requiring proactive scenario planning.</a:t>
            </a:r>
            <a:endParaRPr lang="en-US" sz="9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883" y="3952280"/>
            <a:ext cx="183133" cy="18313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92894" y="3948559"/>
            <a:ext cx="3952652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Mitigation Actions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892894" y="4259461"/>
            <a:ext cx="395265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threat maps to a named owner, a trigger threshold, and a pre-defined response — eliminating reactive decision-making.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5060231" y="922809"/>
            <a:ext cx="3680222" cy="3859560"/>
          </a:xfrm>
          <a:prstGeom prst="roundRect">
            <a:avLst>
              <a:gd name="adj" fmla="val 2389"/>
            </a:avLst>
          </a:prstGeom>
          <a:solidFill>
            <a:srgbClr val="4950BC"/>
          </a:solidFill>
          <a:ln/>
        </p:spPr>
      </p:sp>
      <p:sp>
        <p:nvSpPr>
          <p:cNvPr id="15" name="Text 10"/>
          <p:cNvSpPr/>
          <p:nvPr/>
        </p:nvSpPr>
        <p:spPr>
          <a:xfrm>
            <a:off x="5182270" y="1042988"/>
            <a:ext cx="3436144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Quick Visual Payoff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182270" y="1353889"/>
            <a:ext cx="3436144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SWOT is only valuable when it converts into a focused strategic choice. Use this quadrant to answer one question: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do we place our biggest bets?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182270" y="2043559"/>
            <a:ext cx="3436144" cy="9015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 strengths to the highest-value opportunities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Address weaknesses that block those opportunities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defenses against the most dangerous threats</a:t>
            </a:r>
            <a:endParaRPr lang="en-US" sz="950" dirty="0"/>
          </a:p>
          <a:p>
            <a:pPr algn="l" marL="193040" indent="-19304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initiatives that don't connect to this grid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005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Timeline Milestones: From Plan to Proof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95883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strategy without a timeline is an intention, not a plan. These three milestones establish the operating rhythm, build the capabilities required for delivery, and generate the early evidence that validates our strategic assumptions.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564856" y="1518791"/>
            <a:ext cx="14288" cy="2438474"/>
          </a:xfrm>
          <a:prstGeom prst="roundRect">
            <a:avLst>
              <a:gd name="adj" fmla="val 358941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082653" y="1649016"/>
            <a:ext cx="366266" cy="14288"/>
          </a:xfrm>
          <a:prstGeom prst="roundRect">
            <a:avLst>
              <a:gd name="adj" fmla="val 358941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4434632" y="1518791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433" y="1541711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6119" y="1560761"/>
            <a:ext cx="346538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1 — Strategy Launch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96119" y="1823591"/>
            <a:ext cx="3465388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 1–2:</a:t>
            </a:r>
            <a:pPr algn="r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Establish operating rhythm with named owners, meeting cadence, and scorecards. Every workstream has a lead, a target, and a reporting structure from day one.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95081" y="2377753"/>
            <a:ext cx="366266" cy="14288"/>
          </a:xfrm>
          <a:prstGeom prst="roundRect">
            <a:avLst>
              <a:gd name="adj" fmla="val 358941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4434632" y="2247528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433" y="2270447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2493" y="2289497"/>
            <a:ext cx="346538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2 — Capability 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2493" y="2552328"/>
            <a:ext cx="3465388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 3–5: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First cross-functional delivery completed within a time-boxed sprint. Teams demonstrate ability to collaborate across silos and produce integrated outcomes.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82653" y="3007296"/>
            <a:ext cx="366266" cy="14288"/>
          </a:xfrm>
          <a:prstGeom prst="roundRect">
            <a:avLst>
              <a:gd name="adj" fmla="val 358941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4434632" y="2877071"/>
            <a:ext cx="274737" cy="274737"/>
          </a:xfrm>
          <a:prstGeom prst="roundRect">
            <a:avLst>
              <a:gd name="adj" fmla="val 1866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433" y="2899990"/>
            <a:ext cx="18313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6119" y="2919040"/>
            <a:ext cx="346538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3 — Early Wins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6119" y="3181871"/>
            <a:ext cx="346538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Month 6:</a:t>
            </a:r>
            <a:pPr algn="r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Measured outcomes validate strategic assumptions. These wins are not anecdotal — they are quantified results that build organizational confidence and unlock the next phase of investment.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19" y="4092476"/>
            <a:ext cx="8151763" cy="677019"/>
          </a:xfrm>
          <a:prstGeom prst="roundRect">
            <a:avLst>
              <a:gd name="adj" fmla="val 7575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158" y="4266828"/>
            <a:ext cx="152623" cy="122039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2820" y="4243164"/>
            <a:ext cx="763302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milestone includes a go/no-go gate. If assumptions are not validated by Milestone 3, the strategy is adjusted — not continued on faith.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9170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Flow: The Engine Room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1134740"/>
            <a:ext cx="1270546" cy="188565"/>
          </a:xfrm>
          <a:prstGeom prst="roundRect">
            <a:avLst>
              <a:gd name="adj" fmla="val 22104"/>
            </a:avLst>
          </a:prstGeom>
          <a:solidFill>
            <a:srgbClr val="DADBF1"/>
          </a:solidFill>
          <a:ln/>
        </p:spPr>
      </p:sp>
      <p:sp>
        <p:nvSpPr>
          <p:cNvPr id="4" name="Text 2"/>
          <p:cNvSpPr/>
          <p:nvPr/>
        </p:nvSpPr>
        <p:spPr>
          <a:xfrm>
            <a:off x="570533" y="1171947"/>
            <a:ext cx="1578918" cy="114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CAPABILITIES → VALUE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496119" y="1462832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first three milestones set the foundation. Milestones 4 through 6 are where the strategy generates compounding returns — scaling what works, optimizing performance, and locking in durable competitive advantage through disciplined execution.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2154" y="2495401"/>
            <a:ext cx="2448446" cy="123974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6119" y="2371353"/>
            <a:ext cx="372070" cy="372070"/>
          </a:xfrm>
          <a:prstGeom prst="ellipse">
            <a:avLst/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9136" y="2464371"/>
            <a:ext cx="186035" cy="1860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0092" y="2867397"/>
            <a:ext cx="2386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4 — Scale What Works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0092" y="3329508"/>
            <a:ext cx="238660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playbooks are replicated across teams and regions. Success is no longer isolated — it becomes the organizational standard, reducing variance and accelerating time-to-value in every market.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40683" y="2309366"/>
            <a:ext cx="2448520" cy="123974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54648" y="2185318"/>
            <a:ext cx="372070" cy="372070"/>
          </a:xfrm>
          <a:prstGeom prst="ellipse">
            <a:avLst/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7665" y="2278335"/>
            <a:ext cx="186035" cy="1860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78622" y="2681362"/>
            <a:ext cx="238668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5 — Optimize Cost-to-Serve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78622" y="3143473"/>
            <a:ext cx="2386682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performance levers are pulled to improve efficiency without sacrificing quality. Cost-to-serve metrics are tracked by segment, revealing where to invest and where to streamline.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99287" y="2123331"/>
            <a:ext cx="2448446" cy="123974"/>
          </a:xfrm>
          <a:prstGeom prst="roundRect">
            <a:avLst>
              <a:gd name="adj" fmla="val 42025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013252" y="1999283"/>
            <a:ext cx="372070" cy="372070"/>
          </a:xfrm>
          <a:prstGeom prst="ellipse">
            <a:avLst/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06269" y="2092300"/>
            <a:ext cx="186035" cy="1860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37225" y="2495327"/>
            <a:ext cx="2386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Milestone 6 — Lock In Competitive Advantage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137225" y="2957438"/>
            <a:ext cx="238660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discipline becomes a structural moat. Competitors can copy the plan — they cannot copy the organizational muscle built through six milestones of consistent, measured delivery.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65820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Two-Column Strategy: Objectives, Investments &amp; Metrics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96119" y="894904"/>
            <a:ext cx="8151763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clarity lives in the connection between what we do and how we measure it. This framework maps every execution theme to a named owner, an investment commitment, and a KPI structure that makes performance visible at every level of the organization.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417984" y="1327324"/>
            <a:ext cx="4099768" cy="3450282"/>
          </a:xfrm>
          <a:prstGeom prst="roundRect">
            <a:avLst>
              <a:gd name="adj" fmla="val 2265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526479" y="1422276"/>
            <a:ext cx="388277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 &amp; Execution Themes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26479" y="1686744"/>
            <a:ext cx="4339977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 do — and who owns it.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26479" y="1956346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7147" y="1976661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5584" y="1993627"/>
            <a:ext cx="154290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 Expansion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5584" y="2258095"/>
            <a:ext cx="1542901" cy="488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CRO. Enter two new segments with tailored go-to-market playbooks by Q3.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27176" y="1956346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7843" y="1976661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66281" y="1993627"/>
            <a:ext cx="1542976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Excellence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66281" y="2258095"/>
            <a:ext cx="1542976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COO. Reduce cost-to-serve by 12% through process automation and vendor consolidation.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6479" y="3099271"/>
            <a:ext cx="244153" cy="244153"/>
          </a:xfrm>
          <a:prstGeom prst="roundRect">
            <a:avLst>
              <a:gd name="adj" fmla="val 1867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7147" y="3119586"/>
            <a:ext cx="162744" cy="2034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5584" y="3136553"/>
            <a:ext cx="354367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Talent &amp; Capability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5584" y="3401020"/>
            <a:ext cx="354367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Owner: CHRO. Close critical skill gaps with targeted hiring and upskilling programs.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09145" y="1422276"/>
            <a:ext cx="394349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Investment Roadmap &amp; KPI Structure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45" y="1686744"/>
            <a:ext cx="4400699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performance is tracked and funded.</a:t>
            </a:r>
            <a:endParaRPr lang="en-US" sz="8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9145" y="1956346"/>
            <a:ext cx="1924273" cy="147258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06095" y="2037755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831928" y="2390403"/>
            <a:ext cx="167870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Capital Allocation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831928" y="2654871"/>
            <a:ext cx="167870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 tied to milestone gates — funding releases only when prior-phase outcomes are validated.</a:t>
            </a:r>
            <a:endParaRPr lang="en-US" sz="8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28371" y="1956346"/>
            <a:ext cx="1924273" cy="14725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7625321" y="2037755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851154" y="2390403"/>
            <a:ext cx="167870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KPI Architecture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851154" y="2654871"/>
            <a:ext cx="1678707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tiers: outcome KPIs (board), driver KPIs (leadership), and activity KPIs (teams). All visible in a single scorecard.</a:t>
            </a:r>
            <a:endParaRPr lang="en-US" sz="8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09145" y="3523878"/>
            <a:ext cx="3943499" cy="114694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615745" y="3605287"/>
            <a:ext cx="130225" cy="1627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831928" y="3957935"/>
            <a:ext cx="3697932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Cadence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4831928" y="4222403"/>
            <a:ext cx="3697932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operational reviews, quarterly board updates, and annual strategy refresh — each with defined escalation thresholds.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0004"/>
            <a:ext cx="8151763" cy="726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to the Finish: Near-Term Results &amp; Next Call to Action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1334765"/>
            <a:ext cx="8151763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Strategy is only as valuable as its execution. The commitments below represent the most critical deliverables for the immediate horizon — and the governance structure that ensures they land on time, on target, and with full accountability.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817861"/>
            <a:ext cx="2644527" cy="2187327"/>
          </a:xfrm>
          <a:prstGeom prst="roundRect">
            <a:avLst>
              <a:gd name="adj" fmla="val 223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116" y="1938858"/>
            <a:ext cx="2402532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Top 3 Deliverables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7116" y="2185913"/>
            <a:ext cx="2402532" cy="1698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Launch operating rhythm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Owners, cadence, and scorecards live by end of Month 1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First cross-functional win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Integrated delivery completed and measured by Month 5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Validated assumptions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Early outcome data presented to board by Month 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49662" y="1817861"/>
            <a:ext cx="2644601" cy="2187327"/>
          </a:xfrm>
          <a:prstGeom prst="roundRect">
            <a:avLst>
              <a:gd name="adj" fmla="val 223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0659" y="1938858"/>
            <a:ext cx="2402607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Governance Close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70659" y="2185913"/>
            <a:ext cx="2402607" cy="1337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Cadence: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Monthly workstream reviews, quarterly leadership check-ins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Escalation Path: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Named escalation owner for each workstream with 48-hour response SLA</a:t>
            </a:r>
            <a:endParaRPr lang="en-US" sz="900" dirty="0"/>
          </a:p>
          <a:p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Success Thresholds:</a:t>
            </a:r>
            <a:pPr algn="l" marL="182880" indent="-18288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Pre-defined go/no-go criteria at each milestone gate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03280" y="1817861"/>
            <a:ext cx="2644601" cy="2187327"/>
          </a:xfrm>
          <a:prstGeom prst="roundRect">
            <a:avLst>
              <a:gd name="adj" fmla="val 223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4277" y="1938858"/>
            <a:ext cx="2402607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Call to Action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24277" y="2185913"/>
            <a:ext cx="2402607" cy="13270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Approve this roadmap today</a:t>
            </a:r>
            <a:pPr algn="l" indent="0" marL="0">
              <a:lnSpc>
                <a:spcPct val="129000"/>
              </a:lnSpc>
              <a:spcAft>
                <a:spcPts val="500"/>
              </a:spcAft>
              <a:buNone/>
            </a:pP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 implementation begins immediately. Every week of delay is a week of competitive advantage surrendered. The plan is ready. The owners are named. The metrics are defined.</a:t>
            </a:r>
            <a:endParaRPr lang="en-US" sz="90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only remaining decision is to begin.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6119" y="4127822"/>
            <a:ext cx="8151763" cy="625599"/>
          </a:xfrm>
          <a:prstGeom prst="roundRect">
            <a:avLst>
              <a:gd name="adj" fmla="val 7807"/>
            </a:avLst>
          </a:prstGeom>
          <a:solidFill>
            <a:srgbClr val="B6FCB8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353" y="4290417"/>
            <a:ext cx="145331" cy="11623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73919" y="4265861"/>
            <a:ext cx="7657728" cy="360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approval of this strategy triggers immediate activation of Milestone 1. All workstream owners are briefed and ready to execute within 5 business days of sign-off.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2026-07-16T09:23:59Z</dcterms:created>
  <dcterms:modified xsi:type="dcterms:W3CDTF">2026-07-16T09:23:59Z</dcterms:modified>
</cp:coreProperties>
</file>