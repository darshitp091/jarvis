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DM Sans Thin"/>
      <p:regular r:id="rId201314"/>
    </p:embeddedFont>
    <p:embeddedFont>
      <p:font typeface="DM Sans ExtraLight"/>
      <p:regular r:id="rId201315"/>
    </p:embeddedFont>
    <p:embeddedFont>
      <p:font typeface="DM Sans Light"/>
      <p:regular r:id="rId201316"/>
    </p:embeddedFont>
    <p:embeddedFont>
      <p:font typeface="DM Sans"/>
      <p:regular r:id="rId201317"/>
    </p:embeddedFont>
    <p:embeddedFont>
      <p:font typeface="DM Sans Medium"/>
      <p:regular r:id="rId201318"/>
    </p:embeddedFont>
    <p:embeddedFont>
      <p:font typeface="DM Sans SemiBold"/>
      <p:regular r:id="rId201319"/>
    </p:embeddedFont>
    <p:embeddedFont>
      <p:font typeface="DM Sans Bold"/>
      <p:regular r:id="rId201320"/>
    </p:embeddedFont>
    <p:embeddedFont>
      <p:font typeface="DM Sans ExtraBold"/>
      <p:regular r:id="rId201321"/>
    </p:embeddedFont>
    <p:embeddedFont>
      <p:font typeface="DM Sans Black"/>
      <p:regular r:id="rId201322"/>
    </p:embeddedFont>
    <p:embeddedFont>
      <p:font typeface="Inter Medium"/>
      <p:regular r:id="rId201323"/>
    </p:embeddedFont>
    <p:embeddedFont>
      <p:font typeface="Inter Light"/>
      <p:regular r:id="rId201324"/>
    </p:embeddedFont>
    <p:embeddedFont>
      <p:font typeface="Inter Thin"/>
      <p:regular r:id="rId201325"/>
    </p:embeddedFont>
    <p:embeddedFont>
      <p:font typeface="Inter ExtraLight"/>
      <p:regular r:id="rId201326"/>
    </p:embeddedFont>
    <p:embeddedFont>
      <p:font typeface="Inter SemiBold"/>
      <p:regular r:id="rId201327"/>
    </p:embeddedFont>
    <p:embeddedFont>
      <p:font typeface="Inter Bold"/>
      <p:regular r:id="rId201328"/>
    </p:embeddedFont>
    <p:embeddedFont>
      <p:font typeface="Inter ExtraBold"/>
      <p:regular r:id="rId201329"/>
    </p:embeddedFont>
    <p:embeddedFont>
      <p:font typeface="Inter"/>
      <p:regular r:id="rId201330"/>
    </p:embeddedFont>
    <p:embeddedFont>
      <p:font typeface="Inter Black"/>
      <p:regular r:id="rId2013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 Id="rId201334" Target="fonts/201334.fntdata" Type="http://schemas.openxmlformats.org/officeDocument/2006/relationships/font"/><Relationship Id="rId201335" Target="fonts/20133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6E2DB"/>
          </a:solidFill>
          <a:ln/>
        </p:spPr>
      </p:sp>
      <p:sp>
        <p:nvSpPr>
          <p:cNvPr id="3" name="Shape 1"/>
          <p:cNvSpPr/>
          <p:nvPr/>
        </p:nvSpPr>
        <p:spPr>
          <a:xfrm>
            <a:off x="0" y="0"/>
            <a:ext cx="9144000" cy="51435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DEBE3"/>
          </a:solidFill>
          <a:ln/>
        </p:spPr>
      </p:sp>
      <p:pic>
        <p:nvPicPr>
          <p:cNvPr id="3" name="Image 0" descr="preencoded.png">    </p:cNvPr>
          <p:cNvPicPr>
            <a:picLocks noChangeAspect="1"/>
          </p:cNvPicPr>
          <p:nvPr/>
        </p:nvPicPr>
        <p:blipFill>
          <a:blip r:embed="rId1"/>
          <a:stretch>
            <a:fillRect/>
          </a:stretch>
        </p:blipFill>
        <p:spPr>
          <a:xfrm>
            <a:off x="61987" y="92943"/>
            <a:ext cx="3305026" cy="4957539"/>
          </a:xfrm>
          <a:prstGeom prst="rect">
            <a:avLst/>
          </a:prstGeom>
        </p:spPr>
      </p:pic>
      <p:sp>
        <p:nvSpPr>
          <p:cNvPr id="4" name="Shape 1"/>
          <p:cNvSpPr/>
          <p:nvPr/>
        </p:nvSpPr>
        <p:spPr>
          <a:xfrm>
            <a:off x="3925119" y="1575197"/>
            <a:ext cx="1620664" cy="188565"/>
          </a:xfrm>
          <a:prstGeom prst="roundRect">
            <a:avLst>
              <a:gd name="adj" fmla="val 7894"/>
            </a:avLst>
          </a:prstGeom>
          <a:solidFill>
            <a:srgbClr val="E3E3E8"/>
          </a:solidFill>
          <a:ln/>
        </p:spPr>
      </p:sp>
      <p:sp>
        <p:nvSpPr>
          <p:cNvPr id="5" name="Text 2"/>
          <p:cNvSpPr/>
          <p:nvPr/>
        </p:nvSpPr>
        <p:spPr>
          <a:xfrm>
            <a:off x="3999533" y="1612404"/>
            <a:ext cx="1929036" cy="114151"/>
          </a:xfrm>
          <a:prstGeom prst="rect">
            <a:avLst/>
          </a:prstGeom>
          <a:noFill/>
          <a:ln/>
        </p:spPr>
        <p:txBody>
          <a:bodyPr wrap="none" lIns="0" tIns="0" rIns="0" bIns="0" rtlCol="0" anchor="t"/>
          <a:lstStyle/>
          <a:p>
            <a:pPr algn="l" indent="0" marL="0">
              <a:lnSpc>
                <a:spcPct val="96000"/>
              </a:lnSpc>
              <a:buNone/>
            </a:pPr>
            <a:r>
              <a:rPr lang="en-US" sz="750" dirty="0">
                <a:solidFill>
                  <a:srgbClr val="161613"/>
                </a:solidFill>
                <a:latin typeface="Inter" pitchFamily="34" charset="0"/>
                <a:ea typeface="Inter" pitchFamily="34" charset="-122"/>
                <a:cs typeface="Inter" pitchFamily="34" charset="-120"/>
              </a:rPr>
              <a:t>PRODUCT LAUNCH STRATEGY</a:t>
            </a:r>
            <a:endParaRPr lang="en-US" sz="750" dirty="0"/>
          </a:p>
        </p:txBody>
      </p:sp>
      <p:sp>
        <p:nvSpPr>
          <p:cNvPr id="6" name="Text 3"/>
          <p:cNvSpPr/>
          <p:nvPr/>
        </p:nvSpPr>
        <p:spPr>
          <a:xfrm>
            <a:off x="3925119" y="1813322"/>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Future-Ready: Product Launch &amp; Roadmap Strategy</a:t>
            </a:r>
            <a:endParaRPr lang="en-US" sz="2400" dirty="0"/>
          </a:p>
        </p:txBody>
      </p:sp>
      <p:sp>
        <p:nvSpPr>
          <p:cNvPr id="7" name="Text 4"/>
          <p:cNvSpPr/>
          <p:nvPr/>
        </p:nvSpPr>
        <p:spPr>
          <a:xfrm>
            <a:off x="3925119" y="2774454"/>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From strategic concept to market dominance — this playbook defines how we move from a bold vision to a product that reshapes the competitive landscape. Built for the modern SaaS era, every decision, milestone, and metric is designed to accelerate our path to category leadership.</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1029891"/>
            <a:ext cx="1199034" cy="188565"/>
          </a:xfrm>
          <a:prstGeom prst="roundRect">
            <a:avLst>
              <a:gd name="adj" fmla="val 7894"/>
            </a:avLst>
          </a:prstGeom>
          <a:noFill/>
          <a:ln w="4763">
            <a:solidFill>
              <a:srgbClr val="28282F"/>
            </a:solidFill>
            <a:prstDash val="solid"/>
          </a:ln>
        </p:spPr>
      </p:sp>
      <p:sp>
        <p:nvSpPr>
          <p:cNvPr id="3" name="Text 1"/>
          <p:cNvSpPr/>
          <p:nvPr/>
        </p:nvSpPr>
        <p:spPr>
          <a:xfrm>
            <a:off x="570533" y="1067098"/>
            <a:ext cx="1507406" cy="114151"/>
          </a:xfrm>
          <a:prstGeom prst="rect">
            <a:avLst/>
          </a:prstGeom>
          <a:noFill/>
          <a:ln/>
        </p:spPr>
        <p:txBody>
          <a:bodyPr wrap="none" lIns="0" tIns="0" rIns="0" bIns="0" rtlCol="0" anchor="t"/>
          <a:lstStyle/>
          <a:p>
            <a:pPr algn="l" indent="0" marL="0">
              <a:lnSpc>
                <a:spcPct val="96000"/>
              </a:lnSpc>
              <a:buNone/>
            </a:pPr>
            <a:r>
              <a:rPr lang="en-US" sz="750" dirty="0">
                <a:solidFill>
                  <a:srgbClr val="28282F"/>
                </a:solidFill>
                <a:latin typeface="Inter" pitchFamily="34" charset="0"/>
                <a:ea typeface="Inter" pitchFamily="34" charset="-122"/>
                <a:cs typeface="Inter" pitchFamily="34" charset="-120"/>
              </a:rPr>
              <a:t>STRATEGIC CONTEXT</a:t>
            </a:r>
            <a:endParaRPr lang="en-US" sz="750" dirty="0"/>
          </a:p>
        </p:txBody>
      </p:sp>
      <p:sp>
        <p:nvSpPr>
          <p:cNvPr id="4" name="Text 2"/>
          <p:cNvSpPr/>
          <p:nvPr/>
        </p:nvSpPr>
        <p:spPr>
          <a:xfrm>
            <a:off x="496119" y="1268016"/>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The Vision: Why Now?</a:t>
            </a:r>
            <a:endParaRPr lang="en-US" sz="2400" dirty="0"/>
          </a:p>
        </p:txBody>
      </p:sp>
      <p:sp>
        <p:nvSpPr>
          <p:cNvPr id="5" name="Text 3"/>
          <p:cNvSpPr/>
          <p:nvPr/>
        </p:nvSpPr>
        <p:spPr>
          <a:xfrm>
            <a:off x="496119" y="1841599"/>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The market is at an inflection point. Legacy tools are failing to meet the demands of modern teams, and customer expectations have shifted irreversibly toward intelligent, integrated, and intuitive platforms. This is our window.</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2378050"/>
            <a:ext cx="2634555" cy="1735559"/>
          </a:xfrm>
          <a:prstGeom prst="rect">
            <a:avLst/>
          </a:prstGeom>
        </p:spPr>
      </p:pic>
      <p:sp>
        <p:nvSpPr>
          <p:cNvPr id="7" name="Text 4"/>
          <p:cNvSpPr/>
          <p:nvPr/>
        </p:nvSpPr>
        <p:spPr>
          <a:xfrm>
            <a:off x="691530" y="2516312"/>
            <a:ext cx="2300883"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Market Shift</a:t>
            </a:r>
            <a:endParaRPr lang="en-US" sz="1200" dirty="0"/>
          </a:p>
        </p:txBody>
      </p:sp>
      <p:sp>
        <p:nvSpPr>
          <p:cNvPr id="8" name="Text 5"/>
          <p:cNvSpPr/>
          <p:nvPr/>
        </p:nvSpPr>
        <p:spPr>
          <a:xfrm>
            <a:off x="691530" y="2784574"/>
            <a:ext cx="2300883"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Industry research confirms a critical gap between what users need and what existing solutions deliver. Fragmented workflows, manual processes, and poor data visibility are driving demand for a unified platform.</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54648" y="2378050"/>
            <a:ext cx="2634630" cy="1735559"/>
          </a:xfrm>
          <a:prstGeom prst="rect">
            <a:avLst/>
          </a:prstGeom>
        </p:spPr>
      </p:pic>
      <p:sp>
        <p:nvSpPr>
          <p:cNvPr id="10" name="Text 6"/>
          <p:cNvSpPr/>
          <p:nvPr/>
        </p:nvSpPr>
        <p:spPr>
          <a:xfrm>
            <a:off x="3450059" y="2516312"/>
            <a:ext cx="2300957"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The Ambition</a:t>
            </a:r>
            <a:endParaRPr lang="en-US" sz="1200" dirty="0"/>
          </a:p>
        </p:txBody>
      </p:sp>
      <p:sp>
        <p:nvSpPr>
          <p:cNvPr id="11" name="Text 7"/>
          <p:cNvSpPr/>
          <p:nvPr/>
        </p:nvSpPr>
        <p:spPr>
          <a:xfrm>
            <a:off x="3450059" y="2784574"/>
            <a:ext cx="2300957"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Our North Star is clear: become the default operating layer for high-performing teams. Every feature, integration, and experience must serve this ambition with precision.</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3252" y="2378050"/>
            <a:ext cx="2634555" cy="1735559"/>
          </a:xfrm>
          <a:prstGeom prst="rect">
            <a:avLst/>
          </a:prstGeom>
        </p:spPr>
      </p:pic>
      <p:sp>
        <p:nvSpPr>
          <p:cNvPr id="13" name="Text 8"/>
          <p:cNvSpPr/>
          <p:nvPr/>
        </p:nvSpPr>
        <p:spPr>
          <a:xfrm>
            <a:off x="6208663" y="2516312"/>
            <a:ext cx="2300883"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Competitive Impact</a:t>
            </a:r>
            <a:endParaRPr lang="en-US" sz="1200" dirty="0"/>
          </a:p>
        </p:txBody>
      </p:sp>
      <p:sp>
        <p:nvSpPr>
          <p:cNvPr id="14" name="Text 9"/>
          <p:cNvSpPr/>
          <p:nvPr/>
        </p:nvSpPr>
        <p:spPr>
          <a:xfrm>
            <a:off x="6208663" y="2784574"/>
            <a:ext cx="230088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This launch is not an iteration — it is a repositioning. By addressing the deepest unmet needs in the market, we create a defensible lead that compounds over time.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42826"/>
            <a:ext cx="1189955" cy="185514"/>
          </a:xfrm>
          <a:prstGeom prst="roundRect">
            <a:avLst>
              <a:gd name="adj" fmla="val 7899"/>
            </a:avLst>
          </a:prstGeom>
          <a:noFill/>
          <a:ln w="4763">
            <a:solidFill>
              <a:srgbClr val="28282F"/>
            </a:solidFill>
            <a:prstDash val="solid"/>
          </a:ln>
        </p:spPr>
      </p:sp>
      <p:sp>
        <p:nvSpPr>
          <p:cNvPr id="3" name="Text 1"/>
          <p:cNvSpPr/>
          <p:nvPr/>
        </p:nvSpPr>
        <p:spPr>
          <a:xfrm>
            <a:off x="569342" y="379437"/>
            <a:ext cx="1500708" cy="112291"/>
          </a:xfrm>
          <a:prstGeom prst="rect">
            <a:avLst/>
          </a:prstGeom>
          <a:noFill/>
          <a:ln/>
        </p:spPr>
        <p:txBody>
          <a:bodyPr wrap="none" lIns="0" tIns="0" rIns="0" bIns="0" rtlCol="0" anchor="t"/>
          <a:lstStyle/>
          <a:p>
            <a:pPr algn="l" indent="0" marL="0">
              <a:lnSpc>
                <a:spcPct val="96000"/>
              </a:lnSpc>
              <a:buNone/>
            </a:pPr>
            <a:r>
              <a:rPr lang="en-US" sz="750" dirty="0">
                <a:solidFill>
                  <a:srgbClr val="28282F"/>
                </a:solidFill>
                <a:latin typeface="Inter" pitchFamily="34" charset="0"/>
                <a:ea typeface="Inter" pitchFamily="34" charset="-122"/>
                <a:cs typeface="Inter" pitchFamily="34" charset="-120"/>
              </a:rPr>
              <a:t>PROBLEM DEFINITION</a:t>
            </a:r>
            <a:endParaRPr lang="en-US" sz="750" dirty="0"/>
          </a:p>
        </p:txBody>
      </p:sp>
      <p:sp>
        <p:nvSpPr>
          <p:cNvPr id="4" name="Text 2"/>
          <p:cNvSpPr/>
          <p:nvPr/>
        </p:nvSpPr>
        <p:spPr>
          <a:xfrm>
            <a:off x="496119" y="576411"/>
            <a:ext cx="8151763" cy="381521"/>
          </a:xfrm>
          <a:prstGeom prst="rect">
            <a:avLst/>
          </a:prstGeom>
          <a:noFill/>
          <a:ln/>
        </p:spPr>
        <p:txBody>
          <a:bodyPr wrap="none" lIns="0" tIns="0" rIns="0" bIns="0" rtlCol="0" anchor="t"/>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The Core Problem</a:t>
            </a:r>
            <a:endParaRPr lang="en-US" sz="2400" dirty="0"/>
          </a:p>
        </p:txBody>
      </p:sp>
      <p:sp>
        <p:nvSpPr>
          <p:cNvPr id="5" name="Text 3"/>
          <p:cNvSpPr/>
          <p:nvPr/>
        </p:nvSpPr>
        <p:spPr>
          <a:xfrm>
            <a:off x="496119" y="1246287"/>
            <a:ext cx="4349428"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161613"/>
                </a:solidFill>
                <a:latin typeface="Inter" pitchFamily="34" charset="0"/>
                <a:ea typeface="Inter" pitchFamily="34" charset="-122"/>
                <a:cs typeface="Inter" pitchFamily="34" charset="-120"/>
              </a:rPr>
              <a:t>Users are drowning in complexity. Current tools create friction at every step — from onboarding to daily workflows to scaling operations. Our research reveals three critical pain clusters that define the status quo.</a:t>
            </a:r>
            <a:endParaRPr lang="en-US" sz="950" dirty="0"/>
          </a:p>
        </p:txBody>
      </p:sp>
      <p:sp>
        <p:nvSpPr>
          <p:cNvPr id="6" name="Shape 4"/>
          <p:cNvSpPr/>
          <p:nvPr/>
        </p:nvSpPr>
        <p:spPr>
          <a:xfrm>
            <a:off x="496119" y="1963043"/>
            <a:ext cx="274737" cy="274737"/>
          </a:xfrm>
          <a:prstGeom prst="roundRect">
            <a:avLst>
              <a:gd name="adj" fmla="val 6667"/>
            </a:avLst>
          </a:prstGeom>
          <a:solidFill>
            <a:srgbClr val="EDEBE3"/>
          </a:solidFill>
          <a:ln/>
        </p:spPr>
      </p:sp>
      <p:sp>
        <p:nvSpPr>
          <p:cNvPr id="7" name="Text 5"/>
          <p:cNvSpPr/>
          <p:nvPr/>
        </p:nvSpPr>
        <p:spPr>
          <a:xfrm>
            <a:off x="541920" y="1985963"/>
            <a:ext cx="183133" cy="228898"/>
          </a:xfrm>
          <a:prstGeom prst="rect">
            <a:avLst/>
          </a:prstGeom>
          <a:noFill/>
          <a:ln/>
        </p:spPr>
        <p:txBody>
          <a:bodyPr wrap="none" lIns="0" tIns="0" rIns="0" bIns="0" rtlCol="0" anchor="ctr"/>
          <a:lstStyle/>
          <a:p>
            <a:pPr algn="ctr" indent="0" marL="0">
              <a:lnSpc>
                <a:spcPct val="100000"/>
              </a:lnSpc>
              <a:buNone/>
            </a:pPr>
            <a:r>
              <a:rPr lang="en-US" sz="1400" dirty="0">
                <a:solidFill>
                  <a:srgbClr val="161613"/>
                </a:solidFill>
                <a:latin typeface="DM Sans Medium" pitchFamily="34" charset="0"/>
                <a:ea typeface="DM Sans Medium" pitchFamily="34" charset="-122"/>
                <a:cs typeface="DM Sans Medium" pitchFamily="34" charset="-120"/>
              </a:rPr>
              <a:t>1</a:t>
            </a:r>
            <a:endParaRPr lang="en-US" sz="1400" dirty="0"/>
          </a:p>
        </p:txBody>
      </p:sp>
      <p:sp>
        <p:nvSpPr>
          <p:cNvPr id="8" name="Text 6"/>
          <p:cNvSpPr/>
          <p:nvPr/>
        </p:nvSpPr>
        <p:spPr>
          <a:xfrm>
            <a:off x="891034" y="2005013"/>
            <a:ext cx="3954512" cy="190723"/>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Workflow Fragmentation</a:t>
            </a:r>
            <a:endParaRPr lang="en-US" sz="1200" dirty="0"/>
          </a:p>
        </p:txBody>
      </p:sp>
      <p:sp>
        <p:nvSpPr>
          <p:cNvPr id="9" name="Text 7"/>
          <p:cNvSpPr/>
          <p:nvPr/>
        </p:nvSpPr>
        <p:spPr>
          <a:xfrm>
            <a:off x="891034" y="2315914"/>
            <a:ext cx="3954512"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161613"/>
                </a:solidFill>
                <a:latin typeface="Inter" pitchFamily="34" charset="0"/>
                <a:ea typeface="Inter" pitchFamily="34" charset="-122"/>
                <a:cs typeface="Inter" pitchFamily="34" charset="-120"/>
              </a:rPr>
              <a:t>Teams juggle an average of 8+ disconnected tools, losing 2.4 hours per day to context switching and manual data transfer.</a:t>
            </a:r>
            <a:endParaRPr lang="en-US" sz="950" dirty="0"/>
          </a:p>
        </p:txBody>
      </p:sp>
      <p:sp>
        <p:nvSpPr>
          <p:cNvPr id="10" name="Shape 8"/>
          <p:cNvSpPr/>
          <p:nvPr/>
        </p:nvSpPr>
        <p:spPr>
          <a:xfrm>
            <a:off x="496119" y="2943969"/>
            <a:ext cx="274737" cy="274737"/>
          </a:xfrm>
          <a:prstGeom prst="roundRect">
            <a:avLst>
              <a:gd name="adj" fmla="val 6667"/>
            </a:avLst>
          </a:prstGeom>
          <a:solidFill>
            <a:srgbClr val="EDEBE3"/>
          </a:solidFill>
          <a:ln/>
        </p:spPr>
      </p:sp>
      <p:sp>
        <p:nvSpPr>
          <p:cNvPr id="11" name="Text 9"/>
          <p:cNvSpPr/>
          <p:nvPr/>
        </p:nvSpPr>
        <p:spPr>
          <a:xfrm>
            <a:off x="541920" y="2966889"/>
            <a:ext cx="183133" cy="228898"/>
          </a:xfrm>
          <a:prstGeom prst="rect">
            <a:avLst/>
          </a:prstGeom>
          <a:noFill/>
          <a:ln/>
        </p:spPr>
        <p:txBody>
          <a:bodyPr wrap="none" lIns="0" tIns="0" rIns="0" bIns="0" rtlCol="0" anchor="ctr"/>
          <a:lstStyle/>
          <a:p>
            <a:pPr algn="ctr" indent="0" marL="0">
              <a:lnSpc>
                <a:spcPct val="100000"/>
              </a:lnSpc>
              <a:buNone/>
            </a:pPr>
            <a:r>
              <a:rPr lang="en-US" sz="1400" dirty="0">
                <a:solidFill>
                  <a:srgbClr val="161613"/>
                </a:solidFill>
                <a:latin typeface="DM Sans Medium" pitchFamily="34" charset="0"/>
                <a:ea typeface="DM Sans Medium" pitchFamily="34" charset="-122"/>
                <a:cs typeface="DM Sans Medium" pitchFamily="34" charset="-120"/>
              </a:rPr>
              <a:t>2</a:t>
            </a:r>
            <a:endParaRPr lang="en-US" sz="1400" dirty="0"/>
          </a:p>
        </p:txBody>
      </p:sp>
      <p:sp>
        <p:nvSpPr>
          <p:cNvPr id="12" name="Text 10"/>
          <p:cNvSpPr/>
          <p:nvPr/>
        </p:nvSpPr>
        <p:spPr>
          <a:xfrm>
            <a:off x="891034" y="2985939"/>
            <a:ext cx="3954512" cy="190723"/>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Delayed Time-to-Value</a:t>
            </a:r>
            <a:endParaRPr lang="en-US" sz="1200" dirty="0"/>
          </a:p>
        </p:txBody>
      </p:sp>
      <p:sp>
        <p:nvSpPr>
          <p:cNvPr id="13" name="Text 11"/>
          <p:cNvSpPr/>
          <p:nvPr/>
        </p:nvSpPr>
        <p:spPr>
          <a:xfrm>
            <a:off x="891034" y="3296841"/>
            <a:ext cx="3954512"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161613"/>
                </a:solidFill>
                <a:latin typeface="Inter" pitchFamily="34" charset="0"/>
                <a:ea typeface="Inter" pitchFamily="34" charset="-122"/>
                <a:cs typeface="Inter" pitchFamily="34" charset="-120"/>
              </a:rPr>
              <a:t>Onboarding cycles stretch to 6+ weeks, with 40% of users never reaching meaningful feature adoption.</a:t>
            </a:r>
            <a:endParaRPr lang="en-US" sz="950" dirty="0"/>
          </a:p>
        </p:txBody>
      </p:sp>
      <p:sp>
        <p:nvSpPr>
          <p:cNvPr id="14" name="Shape 12"/>
          <p:cNvSpPr/>
          <p:nvPr/>
        </p:nvSpPr>
        <p:spPr>
          <a:xfrm>
            <a:off x="496119" y="3924895"/>
            <a:ext cx="274737" cy="274737"/>
          </a:xfrm>
          <a:prstGeom prst="roundRect">
            <a:avLst>
              <a:gd name="adj" fmla="val 6667"/>
            </a:avLst>
          </a:prstGeom>
          <a:solidFill>
            <a:srgbClr val="EDEBE3"/>
          </a:solidFill>
          <a:ln/>
        </p:spPr>
      </p:sp>
      <p:sp>
        <p:nvSpPr>
          <p:cNvPr id="15" name="Text 13"/>
          <p:cNvSpPr/>
          <p:nvPr/>
        </p:nvSpPr>
        <p:spPr>
          <a:xfrm>
            <a:off x="541920" y="3947815"/>
            <a:ext cx="183133" cy="228898"/>
          </a:xfrm>
          <a:prstGeom prst="rect">
            <a:avLst/>
          </a:prstGeom>
          <a:noFill/>
          <a:ln/>
        </p:spPr>
        <p:txBody>
          <a:bodyPr wrap="none" lIns="0" tIns="0" rIns="0" bIns="0" rtlCol="0" anchor="ctr"/>
          <a:lstStyle/>
          <a:p>
            <a:pPr algn="ctr" indent="0" marL="0">
              <a:lnSpc>
                <a:spcPct val="100000"/>
              </a:lnSpc>
              <a:buNone/>
            </a:pPr>
            <a:r>
              <a:rPr lang="en-US" sz="1400" dirty="0">
                <a:solidFill>
                  <a:srgbClr val="161613"/>
                </a:solidFill>
                <a:latin typeface="DM Sans Medium" pitchFamily="34" charset="0"/>
                <a:ea typeface="DM Sans Medium" pitchFamily="34" charset="-122"/>
                <a:cs typeface="DM Sans Medium" pitchFamily="34" charset="-120"/>
              </a:rPr>
              <a:t>3</a:t>
            </a:r>
            <a:endParaRPr lang="en-US" sz="1400" dirty="0"/>
          </a:p>
        </p:txBody>
      </p:sp>
      <p:sp>
        <p:nvSpPr>
          <p:cNvPr id="16" name="Text 14"/>
          <p:cNvSpPr/>
          <p:nvPr/>
        </p:nvSpPr>
        <p:spPr>
          <a:xfrm>
            <a:off x="891034" y="3966865"/>
            <a:ext cx="3954512" cy="190723"/>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Infrastructure Ceiling</a:t>
            </a:r>
            <a:endParaRPr lang="en-US" sz="1200" dirty="0"/>
          </a:p>
        </p:txBody>
      </p:sp>
      <p:sp>
        <p:nvSpPr>
          <p:cNvPr id="17" name="Text 15"/>
          <p:cNvSpPr/>
          <p:nvPr/>
        </p:nvSpPr>
        <p:spPr>
          <a:xfrm>
            <a:off x="891034" y="4277767"/>
            <a:ext cx="3954512"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161613"/>
                </a:solidFill>
                <a:latin typeface="Inter" pitchFamily="34" charset="0"/>
                <a:ea typeface="Inter" pitchFamily="34" charset="-122"/>
                <a:cs typeface="Inter" pitchFamily="34" charset="-120"/>
              </a:rPr>
              <a:t>Existing platforms collapse under scale, forcing costly migrations and creating operational risk during growth phases.</a:t>
            </a:r>
            <a:endParaRPr lang="en-US" sz="950" dirty="0"/>
          </a:p>
        </p:txBody>
      </p:sp>
      <p:sp>
        <p:nvSpPr>
          <p:cNvPr id="18" name="Shape 16"/>
          <p:cNvSpPr/>
          <p:nvPr/>
        </p:nvSpPr>
        <p:spPr>
          <a:xfrm>
            <a:off x="5060231" y="1138163"/>
            <a:ext cx="3680222" cy="3662511"/>
          </a:xfrm>
          <a:prstGeom prst="roundRect">
            <a:avLst>
              <a:gd name="adj" fmla="val 500"/>
            </a:avLst>
          </a:prstGeom>
          <a:solidFill>
            <a:srgbClr val="28282F"/>
          </a:solidFill>
          <a:ln/>
        </p:spPr>
      </p:sp>
      <p:sp>
        <p:nvSpPr>
          <p:cNvPr id="19" name="Text 17"/>
          <p:cNvSpPr/>
          <p:nvPr/>
        </p:nvSpPr>
        <p:spPr>
          <a:xfrm>
            <a:off x="5182270" y="1258342"/>
            <a:ext cx="3436144" cy="190723"/>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DM Sans Medium" pitchFamily="34" charset="0"/>
                <a:ea typeface="DM Sans Medium" pitchFamily="34" charset="-122"/>
                <a:cs typeface="DM Sans Medium" pitchFamily="34" charset="-120"/>
              </a:rPr>
              <a:t>The Cost of Inaction</a:t>
            </a:r>
            <a:endParaRPr lang="en-US" sz="1200" dirty="0"/>
          </a:p>
        </p:txBody>
      </p:sp>
      <p:sp>
        <p:nvSpPr>
          <p:cNvPr id="20" name="Text 18"/>
          <p:cNvSpPr/>
          <p:nvPr/>
        </p:nvSpPr>
        <p:spPr>
          <a:xfrm>
            <a:off x="5182270" y="1569244"/>
            <a:ext cx="3436144"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FFFFFF"/>
                </a:solidFill>
                <a:latin typeface="Inter" pitchFamily="34" charset="0"/>
                <a:ea typeface="Inter" pitchFamily="34" charset="-122"/>
                <a:cs typeface="Inter" pitchFamily="34" charset="-120"/>
              </a:rPr>
              <a:t>Every quarter without a solution represents lost revenue, eroding customer trust, and ceding ground to competitors. The opportunity cost is measurable — and it is growing.</a:t>
            </a:r>
            <a:endParaRPr lang="en-US" sz="950" dirty="0"/>
          </a:p>
        </p:txBody>
      </p:sp>
      <p:sp>
        <p:nvSpPr>
          <p:cNvPr id="21" name="Shape 19"/>
          <p:cNvSpPr/>
          <p:nvPr/>
        </p:nvSpPr>
        <p:spPr>
          <a:xfrm>
            <a:off x="5182270" y="2286000"/>
            <a:ext cx="3436144" cy="858813"/>
          </a:xfrm>
          <a:prstGeom prst="roundRect">
            <a:avLst>
              <a:gd name="adj" fmla="val 2133"/>
            </a:avLst>
          </a:prstGeom>
          <a:solidFill>
            <a:srgbClr val="3B3B45"/>
          </a:solidFill>
          <a:ln/>
        </p:spPr>
      </p:sp>
      <p:pic>
        <p:nvPicPr>
          <p:cNvPr id="22" name="Image 0" descr="preencoded.png">    </p:cNvPr>
          <p:cNvPicPr>
            <a:picLocks noChangeAspect="1"/>
          </p:cNvPicPr>
          <p:nvPr/>
        </p:nvPicPr>
        <p:blipFill>
          <a:blip r:embed="rId1"/>
          <a:stretch>
            <a:fillRect/>
          </a:stretch>
        </p:blipFill>
        <p:spPr>
          <a:xfrm>
            <a:off x="5304309" y="2469877"/>
            <a:ext cx="152623" cy="122039"/>
          </a:xfrm>
          <a:prstGeom prst="rect">
            <a:avLst/>
          </a:prstGeom>
        </p:spPr>
      </p:pic>
      <p:sp>
        <p:nvSpPr>
          <p:cNvPr id="23" name="Text 20"/>
          <p:cNvSpPr/>
          <p:nvPr/>
        </p:nvSpPr>
        <p:spPr>
          <a:xfrm>
            <a:off x="5578971" y="2424633"/>
            <a:ext cx="2917403"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FFFFFF"/>
                </a:solidFill>
                <a:latin typeface="Inter" pitchFamily="34" charset="0"/>
                <a:ea typeface="Inter" pitchFamily="34" charset="-122"/>
                <a:cs typeface="Inter" pitchFamily="34" charset="-120"/>
              </a:rPr>
              <a:t>Our solution directly addresses each friction point with purpose-built capabilities designed for the modern enterprise.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721370"/>
            <a:ext cx="1174626" cy="188565"/>
          </a:xfrm>
          <a:prstGeom prst="roundRect">
            <a:avLst>
              <a:gd name="adj" fmla="val 7894"/>
            </a:avLst>
          </a:prstGeom>
          <a:solidFill>
            <a:srgbClr val="E3E3E8"/>
          </a:solidFill>
          <a:ln/>
        </p:spPr>
      </p:sp>
      <p:sp>
        <p:nvSpPr>
          <p:cNvPr id="3" name="Text 1"/>
          <p:cNvSpPr/>
          <p:nvPr/>
        </p:nvSpPr>
        <p:spPr>
          <a:xfrm>
            <a:off x="570533" y="758577"/>
            <a:ext cx="1482998" cy="114151"/>
          </a:xfrm>
          <a:prstGeom prst="rect">
            <a:avLst/>
          </a:prstGeom>
          <a:noFill/>
          <a:ln/>
        </p:spPr>
        <p:txBody>
          <a:bodyPr wrap="none" lIns="0" tIns="0" rIns="0" bIns="0" rtlCol="0" anchor="t"/>
          <a:lstStyle/>
          <a:p>
            <a:pPr algn="l" indent="0" marL="0">
              <a:lnSpc>
                <a:spcPct val="96000"/>
              </a:lnSpc>
              <a:buNone/>
            </a:pPr>
            <a:r>
              <a:rPr lang="en-US" sz="750" dirty="0">
                <a:solidFill>
                  <a:srgbClr val="161613"/>
                </a:solidFill>
                <a:latin typeface="Inter" pitchFamily="34" charset="0"/>
                <a:ea typeface="Inter" pitchFamily="34" charset="-122"/>
                <a:cs typeface="Inter" pitchFamily="34" charset="-120"/>
              </a:rPr>
              <a:t>FEATURE SPOTLIGHT</a:t>
            </a:r>
            <a:endParaRPr lang="en-US" sz="750" dirty="0"/>
          </a:p>
        </p:txBody>
      </p:sp>
      <p:sp>
        <p:nvSpPr>
          <p:cNvPr id="4" name="Text 2"/>
          <p:cNvSpPr/>
          <p:nvPr/>
        </p:nvSpPr>
        <p:spPr>
          <a:xfrm>
            <a:off x="496119" y="959495"/>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The Solution: Three Pillars of Capability</a:t>
            </a:r>
            <a:endParaRPr lang="en-US" sz="2400" dirty="0"/>
          </a:p>
        </p:txBody>
      </p:sp>
      <p:sp>
        <p:nvSpPr>
          <p:cNvPr id="5" name="Text 3"/>
          <p:cNvSpPr/>
          <p:nvPr/>
        </p:nvSpPr>
        <p:spPr>
          <a:xfrm>
            <a:off x="496119" y="1533079"/>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Each feature is engineered to eliminate a specific class of user friction, delivering measurable impact from day one. Together, they form a cohesive platform that scales with the customer.</a:t>
            </a:r>
            <a:endParaRPr lang="en-US" sz="950" dirty="0"/>
          </a:p>
        </p:txBody>
      </p:sp>
      <p:pic>
        <p:nvPicPr>
          <p:cNvPr id="6" name="Image 0" descr="preencoded.png">    </p:cNvPr>
          <p:cNvPicPr>
            <a:picLocks noChangeAspect="1"/>
          </p:cNvPicPr>
          <p:nvPr/>
        </p:nvPicPr>
        <p:blipFill>
          <a:blip r:embed="rId1"/>
          <a:stretch>
            <a:fillRect/>
          </a:stretch>
        </p:blipFill>
        <p:spPr>
          <a:xfrm>
            <a:off x="496119" y="2069529"/>
            <a:ext cx="1516038" cy="936947"/>
          </a:xfrm>
          <a:prstGeom prst="rect">
            <a:avLst/>
          </a:prstGeom>
        </p:spPr>
      </p:pic>
      <p:sp>
        <p:nvSpPr>
          <p:cNvPr id="7" name="Text 4"/>
          <p:cNvSpPr/>
          <p:nvPr/>
        </p:nvSpPr>
        <p:spPr>
          <a:xfrm>
            <a:off x="496119" y="3161481"/>
            <a:ext cx="2613868"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Intelligent Automation</a:t>
            </a:r>
            <a:endParaRPr lang="en-US" sz="1200" dirty="0"/>
          </a:p>
        </p:txBody>
      </p:sp>
      <p:sp>
        <p:nvSpPr>
          <p:cNvPr id="8" name="Text 5"/>
          <p:cNvSpPr/>
          <p:nvPr/>
        </p:nvSpPr>
        <p:spPr>
          <a:xfrm>
            <a:off x="496119" y="3429744"/>
            <a:ext cx="2613868"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AI-driven workflows eliminate manual processes, surfacing insights and triggering actions without human intervention. Users reclaim up to 10 hours per week, redirecting effort toward high-value decisions.</a:t>
            </a:r>
            <a:endParaRPr lang="en-US" sz="950" dirty="0"/>
          </a:p>
        </p:txBody>
      </p:sp>
      <p:pic>
        <p:nvPicPr>
          <p:cNvPr id="9" name="Image 1" descr="preencoded.png">    </p:cNvPr>
          <p:cNvPicPr>
            <a:picLocks noChangeAspect="1"/>
          </p:cNvPicPr>
          <p:nvPr/>
        </p:nvPicPr>
        <p:blipFill>
          <a:blip r:embed="rId2"/>
          <a:stretch>
            <a:fillRect/>
          </a:stretch>
        </p:blipFill>
        <p:spPr>
          <a:xfrm>
            <a:off x="3264991" y="2069529"/>
            <a:ext cx="1516038" cy="936947"/>
          </a:xfrm>
          <a:prstGeom prst="rect">
            <a:avLst/>
          </a:prstGeom>
        </p:spPr>
      </p:pic>
      <p:sp>
        <p:nvSpPr>
          <p:cNvPr id="10" name="Text 6"/>
          <p:cNvSpPr/>
          <p:nvPr/>
        </p:nvSpPr>
        <p:spPr>
          <a:xfrm>
            <a:off x="3264991" y="3161481"/>
            <a:ext cx="2613943"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Unified Workspace</a:t>
            </a:r>
            <a:endParaRPr lang="en-US" sz="1200" dirty="0"/>
          </a:p>
        </p:txBody>
      </p:sp>
      <p:sp>
        <p:nvSpPr>
          <p:cNvPr id="11" name="Text 7"/>
          <p:cNvSpPr/>
          <p:nvPr/>
        </p:nvSpPr>
        <p:spPr>
          <a:xfrm>
            <a:off x="3264991" y="3429744"/>
            <a:ext cx="261394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A single, cohesive environment replaces fragmented toolchains. Real-time collaboration, shared context, and integrated data flows reduce switching costs and accelerate team alignment.</a:t>
            </a:r>
            <a:endParaRPr lang="en-US" sz="950" dirty="0"/>
          </a:p>
        </p:txBody>
      </p:sp>
      <p:pic>
        <p:nvPicPr>
          <p:cNvPr id="12" name="Image 2" descr="preencoded.png">    </p:cNvPr>
          <p:cNvPicPr>
            <a:picLocks noChangeAspect="1"/>
          </p:cNvPicPr>
          <p:nvPr/>
        </p:nvPicPr>
        <p:blipFill>
          <a:blip r:embed="rId3"/>
          <a:stretch>
            <a:fillRect/>
          </a:stretch>
        </p:blipFill>
        <p:spPr>
          <a:xfrm>
            <a:off x="6033939" y="2069529"/>
            <a:ext cx="1516038" cy="936947"/>
          </a:xfrm>
          <a:prstGeom prst="rect">
            <a:avLst/>
          </a:prstGeom>
        </p:spPr>
      </p:pic>
      <p:sp>
        <p:nvSpPr>
          <p:cNvPr id="13" name="Text 8"/>
          <p:cNvSpPr/>
          <p:nvPr/>
        </p:nvSpPr>
        <p:spPr>
          <a:xfrm>
            <a:off x="6033939" y="3161481"/>
            <a:ext cx="2613943"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Enterprise-Grade Scalability</a:t>
            </a:r>
            <a:endParaRPr lang="en-US" sz="1200" dirty="0"/>
          </a:p>
        </p:txBody>
      </p:sp>
      <p:sp>
        <p:nvSpPr>
          <p:cNvPr id="14" name="Text 9"/>
          <p:cNvSpPr/>
          <p:nvPr/>
        </p:nvSpPr>
        <p:spPr>
          <a:xfrm>
            <a:off x="6033939" y="3429744"/>
            <a:ext cx="2613943"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Built on a cloud-native architecture designed to handle millions of transactions without performance degradation. Infrastructure upgrades happen seamlessly, with zero downtime for customers.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363736"/>
            <a:ext cx="978991" cy="176585"/>
          </a:xfrm>
          <a:prstGeom prst="roundRect">
            <a:avLst>
              <a:gd name="adj" fmla="val 7903"/>
            </a:avLst>
          </a:prstGeom>
          <a:noFill/>
          <a:ln w="4763">
            <a:solidFill>
              <a:srgbClr val="28282F"/>
            </a:solidFill>
            <a:prstDash val="solid"/>
          </a:ln>
        </p:spPr>
      </p:sp>
      <p:sp>
        <p:nvSpPr>
          <p:cNvPr id="3" name="Text 1"/>
          <p:cNvSpPr/>
          <p:nvPr/>
        </p:nvSpPr>
        <p:spPr>
          <a:xfrm>
            <a:off x="565845" y="398562"/>
            <a:ext cx="1296739" cy="106933"/>
          </a:xfrm>
          <a:prstGeom prst="rect">
            <a:avLst/>
          </a:prstGeom>
          <a:noFill/>
          <a:ln/>
        </p:spPr>
        <p:txBody>
          <a:bodyPr wrap="none" lIns="0" tIns="0" rIns="0" bIns="0" rtlCol="0" anchor="t"/>
          <a:lstStyle/>
          <a:p>
            <a:pPr algn="l" indent="0" marL="0">
              <a:lnSpc>
                <a:spcPct val="96000"/>
              </a:lnSpc>
              <a:buNone/>
            </a:pPr>
            <a:r>
              <a:rPr lang="en-US" sz="700" dirty="0">
                <a:solidFill>
                  <a:srgbClr val="28282F"/>
                </a:solidFill>
                <a:latin typeface="Inter" pitchFamily="34" charset="0"/>
                <a:ea typeface="Inter" pitchFamily="34" charset="-122"/>
                <a:cs typeface="Inter" pitchFamily="34" charset="-120"/>
              </a:rPr>
              <a:t>USER EXPERIENCE</a:t>
            </a:r>
            <a:endParaRPr lang="en-US" sz="700" dirty="0"/>
          </a:p>
        </p:txBody>
      </p:sp>
      <p:sp>
        <p:nvSpPr>
          <p:cNvPr id="4" name="Text 2"/>
          <p:cNvSpPr/>
          <p:nvPr/>
        </p:nvSpPr>
        <p:spPr>
          <a:xfrm>
            <a:off x="496119" y="583927"/>
            <a:ext cx="8151763" cy="363364"/>
          </a:xfrm>
          <a:prstGeom prst="rect">
            <a:avLst/>
          </a:prstGeom>
          <a:noFill/>
          <a:ln/>
        </p:spPr>
        <p:txBody>
          <a:bodyPr wrap="none" lIns="0" tIns="0" rIns="0" bIns="0" rtlCol="0" anchor="t"/>
          <a:lstStyle/>
          <a:p>
            <a:pPr algn="l" indent="0" marL="0">
              <a:lnSpc>
                <a:spcPct val="104000"/>
              </a:lnSpc>
              <a:buNone/>
            </a:pPr>
            <a:r>
              <a:rPr lang="en-US" sz="2250" dirty="0">
                <a:solidFill>
                  <a:srgbClr val="161613"/>
                </a:solidFill>
                <a:latin typeface="DM Sans Medium" pitchFamily="34" charset="0"/>
                <a:ea typeface="DM Sans Medium" pitchFamily="34" charset="-122"/>
                <a:cs typeface="DM Sans Medium" pitchFamily="34" charset="-120"/>
              </a:rPr>
              <a:t>How It Works: The User Journey</a:t>
            </a:r>
            <a:endParaRPr lang="en-US" sz="2250" dirty="0"/>
          </a:p>
        </p:txBody>
      </p:sp>
      <p:sp>
        <p:nvSpPr>
          <p:cNvPr id="5" name="Text 3"/>
          <p:cNvSpPr/>
          <p:nvPr/>
        </p:nvSpPr>
        <p:spPr>
          <a:xfrm>
            <a:off x="496119" y="1110779"/>
            <a:ext cx="8151763" cy="360462"/>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161613"/>
                </a:solidFill>
                <a:latin typeface="Inter" pitchFamily="34" charset="0"/>
                <a:ea typeface="Inter" pitchFamily="34" charset="-122"/>
                <a:cs typeface="Inter" pitchFamily="34" charset="-120"/>
              </a:rPr>
              <a:t>The product experience is structured around three progressive phases, each designed to deepen value realization and increase user dependency. From first login to power-user mastery, every touchpoint is intentional.</a:t>
            </a:r>
            <a:endParaRPr lang="en-US" sz="900" dirty="0"/>
          </a:p>
        </p:txBody>
      </p:sp>
      <p:pic>
        <p:nvPicPr>
          <p:cNvPr id="6" name="Image 0" descr="preencoded.png">    </p:cNvPr>
          <p:cNvPicPr>
            <a:picLocks noChangeAspect="1"/>
          </p:cNvPicPr>
          <p:nvPr/>
        </p:nvPicPr>
        <p:blipFill>
          <a:blip r:embed="rId1"/>
          <a:stretch>
            <a:fillRect/>
          </a:stretch>
        </p:blipFill>
        <p:spPr>
          <a:xfrm>
            <a:off x="1374874" y="1593875"/>
            <a:ext cx="6394252" cy="2522562"/>
          </a:xfrm>
          <a:prstGeom prst="rect">
            <a:avLst/>
          </a:prstGeom>
        </p:spPr>
      </p:pic>
      <p:sp>
        <p:nvSpPr>
          <p:cNvPr id="7" name="Text 4"/>
          <p:cNvSpPr/>
          <p:nvPr/>
        </p:nvSpPr>
        <p:spPr>
          <a:xfrm>
            <a:off x="2369561" y="2467511"/>
            <a:ext cx="1272028" cy="173065"/>
          </a:xfrm>
          <a:prstGeom prst="rect">
            <a:avLst/>
          </a:prstGeom>
          <a:noFill/>
          <a:ln/>
        </p:spPr>
        <p:txBody>
          <a:bodyPr wrap="none" lIns="0" tIns="0" rIns="0" bIns="0" rtlCol="0" anchor="t"/>
          <a:lstStyle/>
          <a:p>
            <a:pPr algn="ctr" indent="0" marL="0">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Onboarding</a:t>
            </a:r>
            <a:endParaRPr lang="en-US" sz="1050" dirty="0"/>
          </a:p>
        </p:txBody>
      </p:sp>
      <p:sp>
        <p:nvSpPr>
          <p:cNvPr id="8" name="Text 5"/>
          <p:cNvSpPr/>
          <p:nvPr/>
        </p:nvSpPr>
        <p:spPr>
          <a:xfrm>
            <a:off x="2369561" y="2689803"/>
            <a:ext cx="1272028" cy="268251"/>
          </a:xfrm>
          <a:prstGeom prst="rect">
            <a:avLst/>
          </a:prstGeom>
          <a:noFill/>
          <a:ln/>
        </p:spPr>
        <p:txBody>
          <a:bodyPr wrap="square" lIns="0" tIns="0" rIns="0" bIns="0" rtlCol="0" anchor="t">
            <a:normAutofit/>
          </a:bodyPr>
          <a:lstStyle/>
          <a:p>
            <a:pPr algn="ctr" indent="0" marL="0">
              <a:lnSpc>
                <a:spcPct val="101000"/>
              </a:lnSpc>
              <a:buNone/>
            </a:pPr>
            <a:r>
              <a:rPr lang="en-US" sz="850" dirty="0">
                <a:solidFill>
                  <a:srgbClr val="161613"/>
                </a:solidFill>
                <a:latin typeface="Inter" pitchFamily="34" charset="0"/>
                <a:ea typeface="Inter" pitchFamily="34" charset="-122"/>
                <a:cs typeface="Inter" pitchFamily="34" charset="-120"/>
              </a:rPr>
              <a:t>Guided setup; first win in 24h</a:t>
            </a:r>
            <a:endParaRPr lang="en-US" sz="850" dirty="0"/>
          </a:p>
        </p:txBody>
      </p:sp>
      <p:sp>
        <p:nvSpPr>
          <p:cNvPr id="9" name="Text 6"/>
          <p:cNvSpPr/>
          <p:nvPr/>
        </p:nvSpPr>
        <p:spPr>
          <a:xfrm>
            <a:off x="3950991" y="2752107"/>
            <a:ext cx="1272028" cy="173065"/>
          </a:xfrm>
          <a:prstGeom prst="rect">
            <a:avLst/>
          </a:prstGeom>
          <a:noFill/>
          <a:ln/>
        </p:spPr>
        <p:txBody>
          <a:bodyPr wrap="none" lIns="0" tIns="0" rIns="0" bIns="0" rtlCol="0" anchor="t"/>
          <a:lstStyle/>
          <a:p>
            <a:pPr algn="ctr" indent="0" marL="0">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Integration</a:t>
            </a:r>
            <a:endParaRPr lang="en-US" sz="1050" dirty="0"/>
          </a:p>
        </p:txBody>
      </p:sp>
      <p:sp>
        <p:nvSpPr>
          <p:cNvPr id="10" name="Text 7"/>
          <p:cNvSpPr/>
          <p:nvPr/>
        </p:nvSpPr>
        <p:spPr>
          <a:xfrm>
            <a:off x="3950991" y="2974399"/>
            <a:ext cx="1272028" cy="268251"/>
          </a:xfrm>
          <a:prstGeom prst="rect">
            <a:avLst/>
          </a:prstGeom>
          <a:noFill/>
          <a:ln/>
        </p:spPr>
        <p:txBody>
          <a:bodyPr wrap="square" lIns="0" tIns="0" rIns="0" bIns="0" rtlCol="0" anchor="t">
            <a:normAutofit/>
          </a:bodyPr>
          <a:lstStyle/>
          <a:p>
            <a:pPr algn="ctr" indent="0" marL="0">
              <a:lnSpc>
                <a:spcPct val="101000"/>
              </a:lnSpc>
              <a:buNone/>
            </a:pPr>
            <a:r>
              <a:rPr lang="en-US" sz="850" dirty="0">
                <a:solidFill>
                  <a:srgbClr val="161613"/>
                </a:solidFill>
                <a:latin typeface="Inter" pitchFamily="34" charset="0"/>
                <a:ea typeface="Inter" pitchFamily="34" charset="-122"/>
                <a:cs typeface="Inter" pitchFamily="34" charset="-120"/>
              </a:rPr>
              <a:t>Daily workflows, team collaboration</a:t>
            </a:r>
            <a:endParaRPr lang="en-US" sz="850" dirty="0"/>
          </a:p>
        </p:txBody>
      </p:sp>
      <p:sp>
        <p:nvSpPr>
          <p:cNvPr id="11" name="Text 8"/>
          <p:cNvSpPr/>
          <p:nvPr/>
        </p:nvSpPr>
        <p:spPr>
          <a:xfrm>
            <a:off x="5550882" y="2467511"/>
            <a:ext cx="1272028" cy="173065"/>
          </a:xfrm>
          <a:prstGeom prst="rect">
            <a:avLst/>
          </a:prstGeom>
          <a:noFill/>
          <a:ln/>
        </p:spPr>
        <p:txBody>
          <a:bodyPr wrap="none" lIns="0" tIns="0" rIns="0" bIns="0" rtlCol="0" anchor="t"/>
          <a:lstStyle/>
          <a:p>
            <a:pPr algn="ctr" indent="0" marL="0">
              <a:lnSpc>
                <a:spcPct val="104000"/>
              </a:lnSpc>
              <a:buNone/>
            </a:pPr>
            <a:r>
              <a:rPr lang="en-US" sz="1050" dirty="0">
                <a:solidFill>
                  <a:srgbClr val="161613"/>
                </a:solidFill>
                <a:latin typeface="DM Sans Medium" pitchFamily="34" charset="0"/>
                <a:ea typeface="DM Sans Medium" pitchFamily="34" charset="-122"/>
                <a:cs typeface="DM Sans Medium" pitchFamily="34" charset="-120"/>
              </a:rPr>
              <a:t>Optimization</a:t>
            </a:r>
            <a:endParaRPr lang="en-US" sz="1050" dirty="0"/>
          </a:p>
        </p:txBody>
      </p:sp>
      <p:sp>
        <p:nvSpPr>
          <p:cNvPr id="12" name="Text 9"/>
          <p:cNvSpPr/>
          <p:nvPr/>
        </p:nvSpPr>
        <p:spPr>
          <a:xfrm>
            <a:off x="5550882" y="2689803"/>
            <a:ext cx="1272028" cy="268251"/>
          </a:xfrm>
          <a:prstGeom prst="rect">
            <a:avLst/>
          </a:prstGeom>
          <a:noFill/>
          <a:ln/>
        </p:spPr>
        <p:txBody>
          <a:bodyPr wrap="square" lIns="0" tIns="0" rIns="0" bIns="0" rtlCol="0" anchor="t">
            <a:normAutofit/>
          </a:bodyPr>
          <a:lstStyle/>
          <a:p>
            <a:pPr algn="ctr" indent="0" marL="0">
              <a:lnSpc>
                <a:spcPct val="101000"/>
              </a:lnSpc>
              <a:buNone/>
            </a:pPr>
            <a:r>
              <a:rPr lang="en-US" sz="850" dirty="0">
                <a:solidFill>
                  <a:srgbClr val="161613"/>
                </a:solidFill>
                <a:latin typeface="Inter" pitchFamily="34" charset="0"/>
                <a:ea typeface="Inter" pitchFamily="34" charset="-122"/>
                <a:cs typeface="Inter" pitchFamily="34" charset="-120"/>
              </a:rPr>
              <a:t>Custom dashboards and API access</a:t>
            </a:r>
            <a:endParaRPr lang="en-US" sz="850" dirty="0"/>
          </a:p>
        </p:txBody>
      </p:sp>
      <p:sp>
        <p:nvSpPr>
          <p:cNvPr id="13" name="Text 10"/>
          <p:cNvSpPr/>
          <p:nvPr/>
        </p:nvSpPr>
        <p:spPr>
          <a:xfrm>
            <a:off x="496119" y="4239071"/>
            <a:ext cx="8151763" cy="54069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161613"/>
                </a:solidFill>
                <a:latin typeface="Inter" pitchFamily="34" charset="0"/>
                <a:ea typeface="Inter" pitchFamily="34" charset="-122"/>
                <a:cs typeface="Inter" pitchFamily="34" charset="-120"/>
              </a:rPr>
              <a:t>Phase 1 focuses on rapid time-to-value — users experience their first meaningful outcome within 24 hours. Phase 2 embeds the product into daily workflows through smart integrations and team collaboration features. Phase 3 unlocks the full power of the platform for advanced users, with custom configurations, API access, and predictive analytics that drive strategic decisions.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3429000" cy="5143500"/>
          </a:xfrm>
          <a:prstGeom prst="rect">
            <a:avLst/>
          </a:prstGeom>
          <a:solidFill>
            <a:srgbClr val="EDEBE3"/>
          </a:solidFill>
          <a:ln/>
        </p:spPr>
      </p:sp>
      <p:pic>
        <p:nvPicPr>
          <p:cNvPr id="3" name="Image 0" descr="preencoded.png">    </p:cNvPr>
          <p:cNvPicPr>
            <a:picLocks noChangeAspect="1"/>
          </p:cNvPicPr>
          <p:nvPr/>
        </p:nvPicPr>
        <p:blipFill>
          <a:blip r:embed="rId1"/>
          <a:stretch>
            <a:fillRect/>
          </a:stretch>
        </p:blipFill>
        <p:spPr>
          <a:xfrm>
            <a:off x="59085" y="88627"/>
            <a:ext cx="3310830" cy="4966246"/>
          </a:xfrm>
          <a:prstGeom prst="rect">
            <a:avLst/>
          </a:prstGeom>
        </p:spPr>
      </p:pic>
      <p:sp>
        <p:nvSpPr>
          <p:cNvPr id="4" name="Shape 1"/>
          <p:cNvSpPr/>
          <p:nvPr/>
        </p:nvSpPr>
        <p:spPr>
          <a:xfrm>
            <a:off x="3925119" y="353988"/>
            <a:ext cx="1165324" cy="179561"/>
          </a:xfrm>
          <a:prstGeom prst="roundRect">
            <a:avLst>
              <a:gd name="adj" fmla="val 7901"/>
            </a:avLst>
          </a:prstGeom>
          <a:solidFill>
            <a:srgbClr val="E3E3E8"/>
          </a:solidFill>
          <a:ln/>
        </p:spPr>
      </p:sp>
      <p:sp>
        <p:nvSpPr>
          <p:cNvPr id="5" name="Text 2"/>
          <p:cNvSpPr/>
          <p:nvPr/>
        </p:nvSpPr>
        <p:spPr>
          <a:xfrm>
            <a:off x="3996035" y="389409"/>
            <a:ext cx="1480691" cy="108719"/>
          </a:xfrm>
          <a:prstGeom prst="rect">
            <a:avLst/>
          </a:prstGeom>
          <a:noFill/>
          <a:ln/>
        </p:spPr>
        <p:txBody>
          <a:bodyPr wrap="none" lIns="0" tIns="0" rIns="0" bIns="0" rtlCol="0" anchor="t"/>
          <a:lstStyle/>
          <a:p>
            <a:pPr algn="l" indent="0" marL="0">
              <a:lnSpc>
                <a:spcPct val="96000"/>
              </a:lnSpc>
              <a:buNone/>
            </a:pPr>
            <a:r>
              <a:rPr lang="en-US" sz="700" dirty="0">
                <a:solidFill>
                  <a:srgbClr val="161613"/>
                </a:solidFill>
                <a:latin typeface="Inter" pitchFamily="34" charset="0"/>
                <a:ea typeface="Inter" pitchFamily="34" charset="-122"/>
                <a:cs typeface="Inter" pitchFamily="34" charset="-120"/>
              </a:rPr>
              <a:t>STRATEGIC ROADMAP</a:t>
            </a:r>
            <a:endParaRPr lang="en-US" sz="700" dirty="0"/>
          </a:p>
        </p:txBody>
      </p:sp>
      <p:sp>
        <p:nvSpPr>
          <p:cNvPr id="6" name="Text 3"/>
          <p:cNvSpPr/>
          <p:nvPr/>
        </p:nvSpPr>
        <p:spPr>
          <a:xfrm>
            <a:off x="3925119" y="578569"/>
            <a:ext cx="4722763" cy="369466"/>
          </a:xfrm>
          <a:prstGeom prst="rect">
            <a:avLst/>
          </a:prstGeom>
          <a:noFill/>
          <a:ln/>
        </p:spPr>
        <p:txBody>
          <a:bodyPr wrap="none" lIns="0" tIns="0" rIns="0" bIns="0" rtlCol="0" anchor="t"/>
          <a:lstStyle/>
          <a:p>
            <a:pPr algn="l" indent="0" marL="0">
              <a:lnSpc>
                <a:spcPct val="104000"/>
              </a:lnSpc>
              <a:buNone/>
            </a:pPr>
            <a:r>
              <a:rPr lang="en-US" sz="2300" dirty="0">
                <a:solidFill>
                  <a:srgbClr val="161613"/>
                </a:solidFill>
                <a:latin typeface="DM Sans Medium" pitchFamily="34" charset="0"/>
                <a:ea typeface="DM Sans Medium" pitchFamily="34" charset="-122"/>
                <a:cs typeface="DM Sans Medium" pitchFamily="34" charset="-120"/>
              </a:rPr>
              <a:t>The Path Forward</a:t>
            </a:r>
            <a:endParaRPr lang="en-US" sz="2300" dirty="0"/>
          </a:p>
        </p:txBody>
      </p:sp>
      <p:sp>
        <p:nvSpPr>
          <p:cNvPr id="7" name="Text 4"/>
          <p:cNvSpPr/>
          <p:nvPr/>
        </p:nvSpPr>
        <p:spPr>
          <a:xfrm>
            <a:off x="3925119" y="1117029"/>
            <a:ext cx="4722763" cy="554087"/>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161613"/>
                </a:solidFill>
                <a:latin typeface="Inter" pitchFamily="34" charset="0"/>
                <a:ea typeface="Inter" pitchFamily="34" charset="-122"/>
                <a:cs typeface="Inter" pitchFamily="34" charset="-120"/>
              </a:rPr>
              <a:t>Our roadmap is structured to deliver immediate value while building toward a category-defining platform. Each phase unlocks new capabilities, expands our addressable market, and deepens our competitive moat.</a:t>
            </a:r>
            <a:endParaRPr lang="en-US" sz="900" dirty="0"/>
          </a:p>
        </p:txBody>
      </p:sp>
      <p:sp>
        <p:nvSpPr>
          <p:cNvPr id="8" name="Shape 5"/>
          <p:cNvSpPr/>
          <p:nvPr/>
        </p:nvSpPr>
        <p:spPr>
          <a:xfrm>
            <a:off x="4058096" y="1797844"/>
            <a:ext cx="14288" cy="2991594"/>
          </a:xfrm>
          <a:prstGeom prst="roundRect">
            <a:avLst>
              <a:gd name="adj" fmla="val 124124"/>
            </a:avLst>
          </a:prstGeom>
          <a:solidFill>
            <a:srgbClr val="D3D1C9"/>
          </a:solidFill>
          <a:ln/>
        </p:spPr>
      </p:sp>
      <p:sp>
        <p:nvSpPr>
          <p:cNvPr id="9" name="Shape 6"/>
          <p:cNvSpPr/>
          <p:nvPr/>
        </p:nvSpPr>
        <p:spPr>
          <a:xfrm>
            <a:off x="4176787" y="1923678"/>
            <a:ext cx="354657" cy="14288"/>
          </a:xfrm>
          <a:prstGeom prst="roundRect">
            <a:avLst>
              <a:gd name="adj" fmla="val 124124"/>
            </a:avLst>
          </a:prstGeom>
          <a:solidFill>
            <a:srgbClr val="D3D1C9"/>
          </a:solidFill>
          <a:ln/>
        </p:spPr>
      </p:sp>
      <p:sp>
        <p:nvSpPr>
          <p:cNvPr id="10" name="Shape 7"/>
          <p:cNvSpPr/>
          <p:nvPr/>
        </p:nvSpPr>
        <p:spPr>
          <a:xfrm>
            <a:off x="3925119" y="1797844"/>
            <a:ext cx="265956" cy="265956"/>
          </a:xfrm>
          <a:prstGeom prst="roundRect">
            <a:avLst>
              <a:gd name="adj" fmla="val 6668"/>
            </a:avLst>
          </a:prstGeom>
          <a:solidFill>
            <a:srgbClr val="EDEBE3"/>
          </a:solidFill>
          <a:ln/>
        </p:spPr>
      </p:sp>
      <p:sp>
        <p:nvSpPr>
          <p:cNvPr id="11" name="Text 8"/>
          <p:cNvSpPr/>
          <p:nvPr/>
        </p:nvSpPr>
        <p:spPr>
          <a:xfrm>
            <a:off x="3969432" y="1819982"/>
            <a:ext cx="177329" cy="221679"/>
          </a:xfrm>
          <a:prstGeom prst="rect">
            <a:avLst/>
          </a:prstGeom>
          <a:noFill/>
          <a:ln/>
        </p:spPr>
        <p:txBody>
          <a:bodyPr wrap="none" lIns="0" tIns="0" rIns="0" bIns="0" rtlCol="0" anchor="ctr"/>
          <a:lstStyle/>
          <a:p>
            <a:pPr algn="ctr" indent="0" marL="0">
              <a:lnSpc>
                <a:spcPct val="100000"/>
              </a:lnSpc>
              <a:buNone/>
            </a:pPr>
            <a:r>
              <a:rPr lang="en-US" sz="1350" dirty="0">
                <a:solidFill>
                  <a:srgbClr val="161613"/>
                </a:solidFill>
                <a:latin typeface="DM Sans Medium" pitchFamily="34" charset="0"/>
                <a:ea typeface="DM Sans Medium" pitchFamily="34" charset="-122"/>
                <a:cs typeface="DM Sans Medium" pitchFamily="34" charset="-120"/>
              </a:rPr>
              <a:t>1</a:t>
            </a:r>
            <a:endParaRPr lang="en-US" sz="1350" dirty="0"/>
          </a:p>
        </p:txBody>
      </p:sp>
      <p:sp>
        <p:nvSpPr>
          <p:cNvPr id="12" name="Text 9"/>
          <p:cNvSpPr/>
          <p:nvPr/>
        </p:nvSpPr>
        <p:spPr>
          <a:xfrm>
            <a:off x="4649242" y="1838474"/>
            <a:ext cx="3998640" cy="184696"/>
          </a:xfrm>
          <a:prstGeom prst="rect">
            <a:avLst/>
          </a:prstGeom>
          <a:noFill/>
          <a:ln/>
        </p:spPr>
        <p:txBody>
          <a:bodyPr wrap="none" lIns="0" tIns="0" rIns="0" bIns="0" rtlCol="0" anchor="t"/>
          <a:lstStyle/>
          <a:p>
            <a:pPr algn="l" indent="0" marL="0">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Q1 / Q2 — Launch Phase</a:t>
            </a:r>
            <a:endParaRPr lang="en-US" sz="1150" dirty="0"/>
          </a:p>
        </p:txBody>
      </p:sp>
      <p:sp>
        <p:nvSpPr>
          <p:cNvPr id="13" name="Text 10"/>
          <p:cNvSpPr/>
          <p:nvPr/>
        </p:nvSpPr>
        <p:spPr>
          <a:xfrm>
            <a:off x="4649242" y="2090737"/>
            <a:ext cx="3998640" cy="554087"/>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161613"/>
                </a:solidFill>
                <a:latin typeface="Inter" pitchFamily="34" charset="0"/>
                <a:ea typeface="Inter" pitchFamily="34" charset="-122"/>
                <a:cs typeface="Inter" pitchFamily="34" charset="-120"/>
              </a:rPr>
              <a:t>Core product release, critical third-party integrations, beta customer onboarding, and initial feedback loops. Focus: prove product-market fit and establish early advocacy.</a:t>
            </a:r>
            <a:endParaRPr lang="en-US" sz="900" dirty="0"/>
          </a:p>
        </p:txBody>
      </p:sp>
      <p:sp>
        <p:nvSpPr>
          <p:cNvPr id="14" name="Shape 11"/>
          <p:cNvSpPr/>
          <p:nvPr/>
        </p:nvSpPr>
        <p:spPr>
          <a:xfrm>
            <a:off x="4176787" y="2995985"/>
            <a:ext cx="354657" cy="14288"/>
          </a:xfrm>
          <a:prstGeom prst="roundRect">
            <a:avLst>
              <a:gd name="adj" fmla="val 124124"/>
            </a:avLst>
          </a:prstGeom>
          <a:solidFill>
            <a:srgbClr val="D3D1C9"/>
          </a:solidFill>
          <a:ln/>
        </p:spPr>
      </p:sp>
      <p:sp>
        <p:nvSpPr>
          <p:cNvPr id="15" name="Shape 12"/>
          <p:cNvSpPr/>
          <p:nvPr/>
        </p:nvSpPr>
        <p:spPr>
          <a:xfrm>
            <a:off x="3925119" y="2870150"/>
            <a:ext cx="265956" cy="265956"/>
          </a:xfrm>
          <a:prstGeom prst="roundRect">
            <a:avLst>
              <a:gd name="adj" fmla="val 6668"/>
            </a:avLst>
          </a:prstGeom>
          <a:solidFill>
            <a:srgbClr val="EDEBE3"/>
          </a:solidFill>
          <a:ln/>
        </p:spPr>
      </p:sp>
      <p:sp>
        <p:nvSpPr>
          <p:cNvPr id="16" name="Text 13"/>
          <p:cNvSpPr/>
          <p:nvPr/>
        </p:nvSpPr>
        <p:spPr>
          <a:xfrm>
            <a:off x="3969432" y="2892289"/>
            <a:ext cx="177329" cy="221679"/>
          </a:xfrm>
          <a:prstGeom prst="rect">
            <a:avLst/>
          </a:prstGeom>
          <a:noFill/>
          <a:ln/>
        </p:spPr>
        <p:txBody>
          <a:bodyPr wrap="none" lIns="0" tIns="0" rIns="0" bIns="0" rtlCol="0" anchor="ctr"/>
          <a:lstStyle/>
          <a:p>
            <a:pPr algn="ctr" indent="0" marL="0">
              <a:lnSpc>
                <a:spcPct val="100000"/>
              </a:lnSpc>
              <a:buNone/>
            </a:pPr>
            <a:r>
              <a:rPr lang="en-US" sz="1350" dirty="0">
                <a:solidFill>
                  <a:srgbClr val="161613"/>
                </a:solidFill>
                <a:latin typeface="DM Sans Medium" pitchFamily="34" charset="0"/>
                <a:ea typeface="DM Sans Medium" pitchFamily="34" charset="-122"/>
                <a:cs typeface="DM Sans Medium" pitchFamily="34" charset="-120"/>
              </a:rPr>
              <a:t>2</a:t>
            </a:r>
            <a:endParaRPr lang="en-US" sz="1350" dirty="0"/>
          </a:p>
        </p:txBody>
      </p:sp>
      <p:sp>
        <p:nvSpPr>
          <p:cNvPr id="17" name="Text 14"/>
          <p:cNvSpPr/>
          <p:nvPr/>
        </p:nvSpPr>
        <p:spPr>
          <a:xfrm>
            <a:off x="4649242" y="2910780"/>
            <a:ext cx="3998640" cy="184696"/>
          </a:xfrm>
          <a:prstGeom prst="rect">
            <a:avLst/>
          </a:prstGeom>
          <a:noFill/>
          <a:ln/>
        </p:spPr>
        <p:txBody>
          <a:bodyPr wrap="none" lIns="0" tIns="0" rIns="0" bIns="0" rtlCol="0" anchor="t"/>
          <a:lstStyle/>
          <a:p>
            <a:pPr algn="l" indent="0" marL="0">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Q3 / Q4 — Scale Phase</a:t>
            </a:r>
            <a:endParaRPr lang="en-US" sz="1150" dirty="0"/>
          </a:p>
        </p:txBody>
      </p:sp>
      <p:sp>
        <p:nvSpPr>
          <p:cNvPr id="18" name="Text 15"/>
          <p:cNvSpPr/>
          <p:nvPr/>
        </p:nvSpPr>
        <p:spPr>
          <a:xfrm>
            <a:off x="4649242" y="3163044"/>
            <a:ext cx="3998640" cy="554087"/>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161613"/>
                </a:solidFill>
                <a:latin typeface="Inter" pitchFamily="34" charset="0"/>
                <a:ea typeface="Inter" pitchFamily="34" charset="-122"/>
                <a:cs typeface="Inter" pitchFamily="34" charset="-120"/>
              </a:rPr>
              <a:t>Enterprise expansion, advanced automation features, multi-team workspaces, and dedicated customer success infrastructure. Focus: accelerate ARR growth and reduce churn.</a:t>
            </a:r>
            <a:endParaRPr lang="en-US" sz="900" dirty="0"/>
          </a:p>
        </p:txBody>
      </p:sp>
      <p:sp>
        <p:nvSpPr>
          <p:cNvPr id="19" name="Shape 16"/>
          <p:cNvSpPr/>
          <p:nvPr/>
        </p:nvSpPr>
        <p:spPr>
          <a:xfrm>
            <a:off x="4176787" y="4068291"/>
            <a:ext cx="354657" cy="14288"/>
          </a:xfrm>
          <a:prstGeom prst="roundRect">
            <a:avLst>
              <a:gd name="adj" fmla="val 124124"/>
            </a:avLst>
          </a:prstGeom>
          <a:solidFill>
            <a:srgbClr val="D3D1C9"/>
          </a:solidFill>
          <a:ln/>
        </p:spPr>
      </p:sp>
      <p:sp>
        <p:nvSpPr>
          <p:cNvPr id="20" name="Shape 17"/>
          <p:cNvSpPr/>
          <p:nvPr/>
        </p:nvSpPr>
        <p:spPr>
          <a:xfrm>
            <a:off x="3925119" y="3942457"/>
            <a:ext cx="265956" cy="265956"/>
          </a:xfrm>
          <a:prstGeom prst="roundRect">
            <a:avLst>
              <a:gd name="adj" fmla="val 6668"/>
            </a:avLst>
          </a:prstGeom>
          <a:solidFill>
            <a:srgbClr val="EDEBE3"/>
          </a:solidFill>
          <a:ln/>
        </p:spPr>
      </p:sp>
      <p:sp>
        <p:nvSpPr>
          <p:cNvPr id="21" name="Text 18"/>
          <p:cNvSpPr/>
          <p:nvPr/>
        </p:nvSpPr>
        <p:spPr>
          <a:xfrm>
            <a:off x="3969432" y="3964595"/>
            <a:ext cx="177329" cy="221679"/>
          </a:xfrm>
          <a:prstGeom prst="rect">
            <a:avLst/>
          </a:prstGeom>
          <a:noFill/>
          <a:ln/>
        </p:spPr>
        <p:txBody>
          <a:bodyPr wrap="none" lIns="0" tIns="0" rIns="0" bIns="0" rtlCol="0" anchor="ctr"/>
          <a:lstStyle/>
          <a:p>
            <a:pPr algn="ctr" indent="0" marL="0">
              <a:lnSpc>
                <a:spcPct val="100000"/>
              </a:lnSpc>
              <a:buNone/>
            </a:pPr>
            <a:r>
              <a:rPr lang="en-US" sz="1350" dirty="0">
                <a:solidFill>
                  <a:srgbClr val="161613"/>
                </a:solidFill>
                <a:latin typeface="DM Sans Medium" pitchFamily="34" charset="0"/>
                <a:ea typeface="DM Sans Medium" pitchFamily="34" charset="-122"/>
                <a:cs typeface="DM Sans Medium" pitchFamily="34" charset="-120"/>
              </a:rPr>
              <a:t>3</a:t>
            </a:r>
            <a:endParaRPr lang="en-US" sz="1350" dirty="0"/>
          </a:p>
        </p:txBody>
      </p:sp>
      <p:sp>
        <p:nvSpPr>
          <p:cNvPr id="22" name="Text 19"/>
          <p:cNvSpPr/>
          <p:nvPr/>
        </p:nvSpPr>
        <p:spPr>
          <a:xfrm>
            <a:off x="4649242" y="3983087"/>
            <a:ext cx="3998640" cy="184696"/>
          </a:xfrm>
          <a:prstGeom prst="rect">
            <a:avLst/>
          </a:prstGeom>
          <a:noFill/>
          <a:ln/>
        </p:spPr>
        <p:txBody>
          <a:bodyPr wrap="none" lIns="0" tIns="0" rIns="0" bIns="0" rtlCol="0" anchor="t"/>
          <a:lstStyle/>
          <a:p>
            <a:pPr algn="l" indent="0" marL="0">
              <a:lnSpc>
                <a:spcPct val="104000"/>
              </a:lnSpc>
              <a:buNone/>
            </a:pPr>
            <a:r>
              <a:rPr lang="en-US" sz="1150" dirty="0">
                <a:solidFill>
                  <a:srgbClr val="161613"/>
                </a:solidFill>
                <a:latin typeface="DM Sans Medium" pitchFamily="34" charset="0"/>
                <a:ea typeface="DM Sans Medium" pitchFamily="34" charset="-122"/>
                <a:cs typeface="DM Sans Medium" pitchFamily="34" charset="-120"/>
              </a:rPr>
              <a:t>Long-Term — Vision Phase</a:t>
            </a:r>
            <a:endParaRPr lang="en-US" sz="1150" dirty="0"/>
          </a:p>
        </p:txBody>
      </p:sp>
      <p:sp>
        <p:nvSpPr>
          <p:cNvPr id="23" name="Text 20"/>
          <p:cNvSpPr/>
          <p:nvPr/>
        </p:nvSpPr>
        <p:spPr>
          <a:xfrm>
            <a:off x="4649242" y="4235351"/>
            <a:ext cx="3998640" cy="554087"/>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161613"/>
                </a:solidFill>
                <a:latin typeface="Inter" pitchFamily="34" charset="0"/>
                <a:ea typeface="Inter" pitchFamily="34" charset="-122"/>
                <a:cs typeface="Inter" pitchFamily="34" charset="-120"/>
              </a:rPr>
              <a:t>AI-native capabilities, marketplace ecosystem, industry-specific verticals, and global compliance frameworks. Focus: shape the market and define the category.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68573"/>
            <a:ext cx="967755" cy="156046"/>
          </a:xfrm>
          <a:prstGeom prst="roundRect">
            <a:avLst>
              <a:gd name="adj" fmla="val 7900"/>
            </a:avLst>
          </a:prstGeom>
          <a:noFill/>
          <a:ln w="4763">
            <a:solidFill>
              <a:srgbClr val="28282F"/>
            </a:solidFill>
            <a:prstDash val="solid"/>
          </a:ln>
        </p:spPr>
      </p:sp>
      <p:sp>
        <p:nvSpPr>
          <p:cNvPr id="3" name="Text 1"/>
          <p:cNvSpPr/>
          <p:nvPr/>
        </p:nvSpPr>
        <p:spPr>
          <a:xfrm>
            <a:off x="557733" y="399380"/>
            <a:ext cx="1301725" cy="94431"/>
          </a:xfrm>
          <a:prstGeom prst="rect">
            <a:avLst/>
          </a:prstGeom>
          <a:noFill/>
          <a:ln/>
        </p:spPr>
        <p:txBody>
          <a:bodyPr wrap="none" lIns="0" tIns="0" rIns="0" bIns="0" rtlCol="0" anchor="t"/>
          <a:lstStyle/>
          <a:p>
            <a:pPr algn="l" indent="0" marL="0">
              <a:lnSpc>
                <a:spcPct val="96000"/>
              </a:lnSpc>
              <a:buNone/>
            </a:pPr>
            <a:r>
              <a:rPr lang="en-US" sz="600" dirty="0">
                <a:solidFill>
                  <a:srgbClr val="28282F"/>
                </a:solidFill>
                <a:latin typeface="Inter" pitchFamily="34" charset="0"/>
                <a:ea typeface="Inter" pitchFamily="34" charset="-122"/>
                <a:cs typeface="Inter" pitchFamily="34" charset="-120"/>
              </a:rPr>
              <a:t>LAUNCH EXECUTION</a:t>
            </a:r>
            <a:endParaRPr lang="en-US" sz="600" dirty="0"/>
          </a:p>
        </p:txBody>
      </p:sp>
      <p:sp>
        <p:nvSpPr>
          <p:cNvPr id="4" name="Text 2"/>
          <p:cNvSpPr/>
          <p:nvPr/>
        </p:nvSpPr>
        <p:spPr>
          <a:xfrm>
            <a:off x="496119" y="558626"/>
            <a:ext cx="8151763" cy="320948"/>
          </a:xfrm>
          <a:prstGeom prst="rect">
            <a:avLst/>
          </a:prstGeom>
          <a:noFill/>
          <a:ln/>
        </p:spPr>
        <p:txBody>
          <a:bodyPr wrap="none" lIns="0" tIns="0" rIns="0" bIns="0" rtlCol="0" anchor="t"/>
          <a:lstStyle/>
          <a:p>
            <a:pPr algn="l" indent="0" marL="0">
              <a:lnSpc>
                <a:spcPct val="104000"/>
              </a:lnSpc>
              <a:buNone/>
            </a:pPr>
            <a:r>
              <a:rPr lang="en-US" sz="2000" dirty="0">
                <a:solidFill>
                  <a:srgbClr val="161613"/>
                </a:solidFill>
                <a:latin typeface="DM Sans Medium" pitchFamily="34" charset="0"/>
                <a:ea typeface="DM Sans Medium" pitchFamily="34" charset="-122"/>
                <a:cs typeface="DM Sans Medium" pitchFamily="34" charset="-120"/>
              </a:rPr>
              <a:t>Launch Countdown &amp; Milestones</a:t>
            </a:r>
            <a:endParaRPr lang="en-US" sz="2000" dirty="0"/>
          </a:p>
        </p:txBody>
      </p:sp>
      <p:sp>
        <p:nvSpPr>
          <p:cNvPr id="5" name="Text 3"/>
          <p:cNvSpPr/>
          <p:nvPr/>
        </p:nvSpPr>
        <p:spPr>
          <a:xfrm>
            <a:off x="496119" y="1234083"/>
            <a:ext cx="3950568" cy="160511"/>
          </a:xfrm>
          <a:prstGeom prst="rect">
            <a:avLst/>
          </a:prstGeom>
          <a:noFill/>
          <a:ln/>
        </p:spPr>
        <p:txBody>
          <a:bodyPr wrap="none" lIns="0" tIns="0" rIns="0" bIns="0" rtlCol="0" anchor="t"/>
          <a:lstStyle/>
          <a:p>
            <a:pPr algn="ctr"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T-8 to T-4 Weeks</a:t>
            </a:r>
            <a:endParaRPr lang="en-US" sz="1000" dirty="0"/>
          </a:p>
        </p:txBody>
      </p:sp>
      <p:sp>
        <p:nvSpPr>
          <p:cNvPr id="6" name="Text 4"/>
          <p:cNvSpPr/>
          <p:nvPr/>
        </p:nvSpPr>
        <p:spPr>
          <a:xfrm>
            <a:off x="496119" y="1479649"/>
            <a:ext cx="3950568" cy="300335"/>
          </a:xfrm>
          <a:prstGeom prst="rect">
            <a:avLst/>
          </a:prstGeom>
          <a:noFill/>
          <a:ln/>
        </p:spPr>
        <p:txBody>
          <a:bodyPr wrap="square" lIns="0" tIns="0" rIns="0" bIns="0" rtlCol="0" anchor="t">
            <a:normAutofit/>
          </a:bodyPr>
          <a:lstStyle/>
          <a:p>
            <a:pPr algn="ctr" indent="0" marL="0">
              <a:lnSpc>
                <a:spcPct val="122000"/>
              </a:lnSpc>
              <a:buNone/>
            </a:pPr>
            <a:r>
              <a:rPr lang="en-US" sz="800" dirty="0">
                <a:solidFill>
                  <a:srgbClr val="161613"/>
                </a:solidFill>
                <a:latin typeface="Inter" pitchFamily="34" charset="0"/>
                <a:ea typeface="Inter" pitchFamily="34" charset="-122"/>
                <a:cs typeface="Inter" pitchFamily="34" charset="-120"/>
              </a:rPr>
              <a:t>Internal build freeze, QA cycles, and closed beta with select customers. All critical bugs resolved. Performance benchmarks validated against SLA targets.</a:t>
            </a:r>
            <a:endParaRPr lang="en-US" sz="800" dirty="0"/>
          </a:p>
        </p:txBody>
      </p:sp>
      <p:sp>
        <p:nvSpPr>
          <p:cNvPr id="7" name="Shape 5"/>
          <p:cNvSpPr/>
          <p:nvPr/>
        </p:nvSpPr>
        <p:spPr>
          <a:xfrm>
            <a:off x="481831" y="1102816"/>
            <a:ext cx="3979143" cy="28575"/>
          </a:xfrm>
          <a:prstGeom prst="rect">
            <a:avLst/>
          </a:prstGeom>
          <a:solidFill>
            <a:srgbClr val="28282F"/>
          </a:solidFill>
          <a:ln/>
        </p:spPr>
      </p:sp>
      <p:sp>
        <p:nvSpPr>
          <p:cNvPr id="8" name="Text 6"/>
          <p:cNvSpPr/>
          <p:nvPr/>
        </p:nvSpPr>
        <p:spPr>
          <a:xfrm>
            <a:off x="496119" y="2081361"/>
            <a:ext cx="3950568" cy="160511"/>
          </a:xfrm>
          <a:prstGeom prst="rect">
            <a:avLst/>
          </a:prstGeom>
          <a:noFill/>
          <a:ln/>
        </p:spPr>
        <p:txBody>
          <a:bodyPr wrap="none" lIns="0" tIns="0" rIns="0" bIns="0" rtlCol="0" anchor="t"/>
          <a:lstStyle/>
          <a:p>
            <a:pPr algn="ctr"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T-2 Weeks</a:t>
            </a:r>
            <a:endParaRPr lang="en-US" sz="1000" dirty="0"/>
          </a:p>
        </p:txBody>
      </p:sp>
      <p:sp>
        <p:nvSpPr>
          <p:cNvPr id="9" name="Text 7"/>
          <p:cNvSpPr/>
          <p:nvPr/>
        </p:nvSpPr>
        <p:spPr>
          <a:xfrm>
            <a:off x="496119" y="2326928"/>
            <a:ext cx="3950568" cy="450503"/>
          </a:xfrm>
          <a:prstGeom prst="rect">
            <a:avLst/>
          </a:prstGeom>
          <a:noFill/>
          <a:ln/>
        </p:spPr>
        <p:txBody>
          <a:bodyPr wrap="square" lIns="0" tIns="0" rIns="0" bIns="0" rtlCol="0" anchor="t">
            <a:normAutofit/>
          </a:bodyPr>
          <a:lstStyle/>
          <a:p>
            <a:pPr algn="ctr" indent="0" marL="0">
              <a:lnSpc>
                <a:spcPct val="122000"/>
              </a:lnSpc>
              <a:buNone/>
            </a:pPr>
            <a:r>
              <a:rPr lang="en-US" sz="800" dirty="0">
                <a:solidFill>
                  <a:srgbClr val="161613"/>
                </a:solidFill>
                <a:latin typeface="Inter" pitchFamily="34" charset="0"/>
                <a:ea typeface="Inter" pitchFamily="34" charset="-122"/>
                <a:cs typeface="Inter" pitchFamily="34" charset="-120"/>
              </a:rPr>
              <a:t>Go-to-market readiness review. Marketing assets, sales enablement, support documentation, and customer success playbooks finalized. Final executive sign-off.</a:t>
            </a:r>
            <a:endParaRPr lang="en-US" sz="800" dirty="0"/>
          </a:p>
        </p:txBody>
      </p:sp>
      <p:sp>
        <p:nvSpPr>
          <p:cNvPr id="10" name="Shape 8"/>
          <p:cNvSpPr/>
          <p:nvPr/>
        </p:nvSpPr>
        <p:spPr>
          <a:xfrm>
            <a:off x="481831" y="1950095"/>
            <a:ext cx="3979143" cy="28575"/>
          </a:xfrm>
          <a:prstGeom prst="rect">
            <a:avLst/>
          </a:prstGeom>
          <a:solidFill>
            <a:srgbClr val="28282F"/>
          </a:solidFill>
          <a:ln/>
        </p:spPr>
      </p:sp>
      <p:sp>
        <p:nvSpPr>
          <p:cNvPr id="11" name="Text 9"/>
          <p:cNvSpPr/>
          <p:nvPr/>
        </p:nvSpPr>
        <p:spPr>
          <a:xfrm>
            <a:off x="496119" y="3078807"/>
            <a:ext cx="3950568" cy="160511"/>
          </a:xfrm>
          <a:prstGeom prst="rect">
            <a:avLst/>
          </a:prstGeom>
          <a:noFill/>
          <a:ln/>
        </p:spPr>
        <p:txBody>
          <a:bodyPr wrap="none" lIns="0" tIns="0" rIns="0" bIns="0" rtlCol="0" anchor="t"/>
          <a:lstStyle/>
          <a:p>
            <a:pPr algn="ctr" indent="0" marL="0">
              <a:lnSpc>
                <a:spcPct val="104000"/>
              </a:lnSpc>
              <a:buNone/>
            </a:pPr>
            <a:r>
              <a:rPr lang="en-US" sz="1000" dirty="0">
                <a:solidFill>
                  <a:srgbClr val="161613"/>
                </a:solidFill>
                <a:latin typeface="DM Sans Medium" pitchFamily="34" charset="0"/>
                <a:ea typeface="DM Sans Medium" pitchFamily="34" charset="-122"/>
                <a:cs typeface="DM Sans Medium" pitchFamily="34" charset="-120"/>
              </a:rPr>
              <a:t>Launch Day</a:t>
            </a:r>
            <a:endParaRPr lang="en-US" sz="1000" dirty="0"/>
          </a:p>
        </p:txBody>
      </p:sp>
      <p:sp>
        <p:nvSpPr>
          <p:cNvPr id="12" name="Text 10"/>
          <p:cNvSpPr/>
          <p:nvPr/>
        </p:nvSpPr>
        <p:spPr>
          <a:xfrm>
            <a:off x="496119" y="3324374"/>
            <a:ext cx="3950568" cy="300335"/>
          </a:xfrm>
          <a:prstGeom prst="rect">
            <a:avLst/>
          </a:prstGeom>
          <a:noFill/>
          <a:ln/>
        </p:spPr>
        <p:txBody>
          <a:bodyPr wrap="square" lIns="0" tIns="0" rIns="0" bIns="0" rtlCol="0" anchor="t">
            <a:normAutofit/>
          </a:bodyPr>
          <a:lstStyle/>
          <a:p>
            <a:pPr algn="ctr" indent="0" marL="0">
              <a:lnSpc>
                <a:spcPct val="122000"/>
              </a:lnSpc>
              <a:buNone/>
            </a:pPr>
            <a:r>
              <a:rPr lang="en-US" sz="800" dirty="0">
                <a:solidFill>
                  <a:srgbClr val="161613"/>
                </a:solidFill>
                <a:latin typeface="Inter" pitchFamily="34" charset="0"/>
                <a:ea typeface="Inter" pitchFamily="34" charset="-122"/>
                <a:cs typeface="Inter" pitchFamily="34" charset="-120"/>
              </a:rPr>
              <a:t>Public release across all channels. Global availability announced. Real-time monitoring dashboards active. War room staffed for immediate issue resolution.</a:t>
            </a:r>
            <a:endParaRPr lang="en-US" sz="800" dirty="0"/>
          </a:p>
        </p:txBody>
      </p:sp>
      <p:sp>
        <p:nvSpPr>
          <p:cNvPr id="13" name="Shape 11"/>
          <p:cNvSpPr/>
          <p:nvPr/>
        </p:nvSpPr>
        <p:spPr>
          <a:xfrm>
            <a:off x="481831" y="2947541"/>
            <a:ext cx="3979143" cy="28575"/>
          </a:xfrm>
          <a:prstGeom prst="rect">
            <a:avLst/>
          </a:prstGeom>
          <a:solidFill>
            <a:srgbClr val="28282F"/>
          </a:solidFill>
          <a:ln/>
        </p:spPr>
      </p:sp>
      <p:pic>
        <p:nvPicPr>
          <p:cNvPr id="14" name="Image 0" descr="preencoded.png">    </p:cNvPr>
          <p:cNvPicPr>
            <a:picLocks noChangeAspect="1"/>
          </p:cNvPicPr>
          <p:nvPr/>
        </p:nvPicPr>
        <p:blipFill>
          <a:blip r:embed="rId1"/>
          <a:stretch>
            <a:fillRect/>
          </a:stretch>
        </p:blipFill>
        <p:spPr>
          <a:xfrm>
            <a:off x="4702076" y="1102816"/>
            <a:ext cx="3117652" cy="3117652"/>
          </a:xfrm>
          <a:prstGeom prst="rect">
            <a:avLst/>
          </a:prstGeom>
        </p:spPr>
      </p:pic>
      <p:sp>
        <p:nvSpPr>
          <p:cNvPr id="15" name="Shape 12"/>
          <p:cNvSpPr/>
          <p:nvPr/>
        </p:nvSpPr>
        <p:spPr>
          <a:xfrm>
            <a:off x="496119" y="4411861"/>
            <a:ext cx="8151763" cy="363066"/>
          </a:xfrm>
          <a:prstGeom prst="roundRect">
            <a:avLst>
              <a:gd name="adj" fmla="val 4244"/>
            </a:avLst>
          </a:prstGeom>
          <a:solidFill>
            <a:srgbClr val="B6FCB8"/>
          </a:solidFill>
          <a:ln/>
        </p:spPr>
      </p:sp>
      <p:pic>
        <p:nvPicPr>
          <p:cNvPr id="16" name="Image 1" descr="preencoded.png">    </p:cNvPr>
          <p:cNvPicPr>
            <a:picLocks noChangeAspect="1"/>
          </p:cNvPicPr>
          <p:nvPr/>
        </p:nvPicPr>
        <p:blipFill>
          <a:blip r:embed="rId2"/>
          <a:stretch>
            <a:fillRect/>
          </a:stretch>
        </p:blipFill>
        <p:spPr>
          <a:xfrm>
            <a:off x="598810" y="4550346"/>
            <a:ext cx="128364" cy="102691"/>
          </a:xfrm>
          <a:prstGeom prst="rect">
            <a:avLst/>
          </a:prstGeom>
        </p:spPr>
      </p:pic>
      <p:sp>
        <p:nvSpPr>
          <p:cNvPr id="17" name="Text 13"/>
          <p:cNvSpPr/>
          <p:nvPr/>
        </p:nvSpPr>
        <p:spPr>
          <a:xfrm>
            <a:off x="829866" y="4522589"/>
            <a:ext cx="8172524" cy="150168"/>
          </a:xfrm>
          <a:prstGeom prst="rect">
            <a:avLst/>
          </a:prstGeom>
          <a:noFill/>
          <a:ln/>
        </p:spPr>
        <p:txBody>
          <a:bodyPr wrap="none" lIns="0" tIns="0" rIns="0" bIns="0" rtlCol="0" anchor="t"/>
          <a:lstStyle/>
          <a:p>
            <a:pPr algn="l" indent="0" marL="0">
              <a:lnSpc>
                <a:spcPct val="122000"/>
              </a:lnSpc>
              <a:buNone/>
            </a:pPr>
            <a:r>
              <a:rPr lang="en-US" sz="800" b="1" dirty="0">
                <a:solidFill>
                  <a:srgbClr val="000000"/>
                </a:solidFill>
                <a:latin typeface="Inter Bold" pitchFamily="34" charset="0"/>
                <a:ea typeface="Inter Bold" pitchFamily="34" charset="-122"/>
                <a:cs typeface="Inter Bold" pitchFamily="34" charset="-120"/>
              </a:rPr>
              <a:t>Launch Readiness Gate:</a:t>
            </a:r>
            <a:pPr algn="l" indent="0" marL="0">
              <a:lnSpc>
                <a:spcPct val="122000"/>
              </a:lnSpc>
              <a:buNone/>
            </a:pPr>
            <a:r>
              <a:rPr lang="en-US" sz="800" dirty="0">
                <a:solidFill>
                  <a:srgbClr val="000000"/>
                </a:solidFill>
                <a:latin typeface="Inter" pitchFamily="34" charset="0"/>
                <a:ea typeface="Inter" pitchFamily="34" charset="-122"/>
                <a:cs typeface="Inter" pitchFamily="34" charset="-120"/>
              </a:rPr>
              <a:t> All milestones must be green before advancing. No feature ships until quality, security, and performance thresholds are met.</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482129"/>
            <a:ext cx="1226418" cy="188565"/>
          </a:xfrm>
          <a:prstGeom prst="roundRect">
            <a:avLst>
              <a:gd name="adj" fmla="val 7894"/>
            </a:avLst>
          </a:prstGeom>
          <a:solidFill>
            <a:srgbClr val="E3E3E8"/>
          </a:solidFill>
          <a:ln/>
        </p:spPr>
      </p:sp>
      <p:sp>
        <p:nvSpPr>
          <p:cNvPr id="3" name="Text 1"/>
          <p:cNvSpPr/>
          <p:nvPr/>
        </p:nvSpPr>
        <p:spPr>
          <a:xfrm>
            <a:off x="570533" y="519336"/>
            <a:ext cx="1534790" cy="114151"/>
          </a:xfrm>
          <a:prstGeom prst="rect">
            <a:avLst/>
          </a:prstGeom>
          <a:noFill/>
          <a:ln/>
        </p:spPr>
        <p:txBody>
          <a:bodyPr wrap="none" lIns="0" tIns="0" rIns="0" bIns="0" rtlCol="0" anchor="t"/>
          <a:lstStyle/>
          <a:p>
            <a:pPr algn="l" indent="0" marL="0">
              <a:lnSpc>
                <a:spcPct val="96000"/>
              </a:lnSpc>
              <a:buNone/>
            </a:pPr>
            <a:r>
              <a:rPr lang="en-US" sz="750" dirty="0">
                <a:solidFill>
                  <a:srgbClr val="161613"/>
                </a:solidFill>
                <a:latin typeface="Inter" pitchFamily="34" charset="0"/>
                <a:ea typeface="Inter" pitchFamily="34" charset="-122"/>
                <a:cs typeface="Inter" pitchFamily="34" charset="-120"/>
              </a:rPr>
              <a:t>METRICS SCORECARD</a:t>
            </a:r>
            <a:endParaRPr lang="en-US" sz="750" dirty="0"/>
          </a:p>
        </p:txBody>
      </p:sp>
      <p:sp>
        <p:nvSpPr>
          <p:cNvPr id="4" name="Text 2"/>
          <p:cNvSpPr/>
          <p:nvPr/>
        </p:nvSpPr>
        <p:spPr>
          <a:xfrm>
            <a:off x="496119" y="720254"/>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Measuring Success</a:t>
            </a:r>
            <a:endParaRPr lang="en-US" sz="2400" dirty="0"/>
          </a:p>
        </p:txBody>
      </p:sp>
      <p:sp>
        <p:nvSpPr>
          <p:cNvPr id="5" name="Text 3"/>
          <p:cNvSpPr/>
          <p:nvPr/>
        </p:nvSpPr>
        <p:spPr>
          <a:xfrm>
            <a:off x="496119" y="1293837"/>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We track a disciplined set of metrics across the customer lifecycle. These scorecards drive weekly reviews, inform product decisions, and ensure accountability across every team.</a:t>
            </a:r>
            <a:endParaRPr lang="en-US" sz="950" dirty="0"/>
          </a:p>
        </p:txBody>
      </p:sp>
      <p:sp>
        <p:nvSpPr>
          <p:cNvPr id="6" name="Text 4"/>
          <p:cNvSpPr/>
          <p:nvPr/>
        </p:nvSpPr>
        <p:spPr>
          <a:xfrm>
            <a:off x="496119" y="1892275"/>
            <a:ext cx="3998342" cy="409352"/>
          </a:xfrm>
          <a:prstGeom prst="rect">
            <a:avLst/>
          </a:prstGeom>
          <a:noFill/>
          <a:ln/>
        </p:spPr>
        <p:txBody>
          <a:bodyPr wrap="none" lIns="0" tIns="0" rIns="0" bIns="0" rtlCol="0" anchor="t"/>
          <a:lstStyle/>
          <a:p>
            <a:pPr algn="ctr" indent="0" marL="0">
              <a:lnSpc>
                <a:spcPct val="83000"/>
              </a:lnSpc>
              <a:buNone/>
            </a:pPr>
            <a:r>
              <a:rPr lang="en-US" sz="3200" dirty="0">
                <a:solidFill>
                  <a:srgbClr val="161613"/>
                </a:solidFill>
                <a:latin typeface="DM Sans Medium" pitchFamily="34" charset="0"/>
                <a:ea typeface="DM Sans Medium" pitchFamily="34" charset="-122"/>
                <a:cs typeface="DM Sans Medium" pitchFamily="34" charset="-120"/>
              </a:rPr>
              <a:t>1,000+</a:t>
            </a:r>
            <a:endParaRPr lang="en-US" sz="3200" dirty="0"/>
          </a:p>
        </p:txBody>
      </p:sp>
      <p:sp>
        <p:nvSpPr>
          <p:cNvPr id="7" name="Text 5"/>
          <p:cNvSpPr/>
          <p:nvPr/>
        </p:nvSpPr>
        <p:spPr>
          <a:xfrm>
            <a:off x="496119" y="2456631"/>
            <a:ext cx="3998342" cy="193849"/>
          </a:xfrm>
          <a:prstGeom prst="rect">
            <a:avLst/>
          </a:prstGeom>
          <a:noFill/>
          <a:ln/>
        </p:spPr>
        <p:txBody>
          <a:bodyPr wrap="none" lIns="0" tIns="0" rIns="0" bIns="0" rtlCol="0" anchor="t"/>
          <a:lstStyle/>
          <a:p>
            <a:pPr algn="ctr"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Target Signups</a:t>
            </a:r>
            <a:endParaRPr lang="en-US" sz="1200" dirty="0"/>
          </a:p>
        </p:txBody>
      </p:sp>
      <p:sp>
        <p:nvSpPr>
          <p:cNvPr id="8" name="Text 6"/>
          <p:cNvSpPr/>
          <p:nvPr/>
        </p:nvSpPr>
        <p:spPr>
          <a:xfrm>
            <a:off x="496119" y="2724894"/>
            <a:ext cx="3998342" cy="39692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161613"/>
                </a:solidFill>
                <a:latin typeface="Inter" pitchFamily="34" charset="0"/>
                <a:ea typeface="Inter" pitchFamily="34" charset="-122"/>
                <a:cs typeface="Inter" pitchFamily="34" charset="-120"/>
              </a:rPr>
              <a:t>New user registrations in the first 30 days post-launch, measured across all acquisition channels.</a:t>
            </a:r>
            <a:endParaRPr lang="en-US" sz="950" dirty="0"/>
          </a:p>
        </p:txBody>
      </p:sp>
      <p:sp>
        <p:nvSpPr>
          <p:cNvPr id="9" name="Text 7"/>
          <p:cNvSpPr/>
          <p:nvPr/>
        </p:nvSpPr>
        <p:spPr>
          <a:xfrm>
            <a:off x="4649465" y="1892275"/>
            <a:ext cx="3998416" cy="409352"/>
          </a:xfrm>
          <a:prstGeom prst="rect">
            <a:avLst/>
          </a:prstGeom>
          <a:noFill/>
          <a:ln/>
        </p:spPr>
        <p:txBody>
          <a:bodyPr wrap="none" lIns="0" tIns="0" rIns="0" bIns="0" rtlCol="0" anchor="t"/>
          <a:lstStyle/>
          <a:p>
            <a:pPr algn="ctr" indent="0" marL="0">
              <a:lnSpc>
                <a:spcPct val="83000"/>
              </a:lnSpc>
              <a:buNone/>
            </a:pPr>
            <a:r>
              <a:rPr lang="en-US" sz="3200" dirty="0">
                <a:solidFill>
                  <a:srgbClr val="161613"/>
                </a:solidFill>
                <a:latin typeface="DM Sans Medium" pitchFamily="34" charset="0"/>
                <a:ea typeface="DM Sans Medium" pitchFamily="34" charset="-122"/>
                <a:cs typeface="DM Sans Medium" pitchFamily="34" charset="-120"/>
              </a:rPr>
              <a:t>24hrs</a:t>
            </a:r>
            <a:endParaRPr lang="en-US" sz="3200" dirty="0"/>
          </a:p>
        </p:txBody>
      </p:sp>
      <p:sp>
        <p:nvSpPr>
          <p:cNvPr id="10" name="Text 8"/>
          <p:cNvSpPr/>
          <p:nvPr/>
        </p:nvSpPr>
        <p:spPr>
          <a:xfrm>
            <a:off x="4649465" y="2456631"/>
            <a:ext cx="3998416" cy="193849"/>
          </a:xfrm>
          <a:prstGeom prst="rect">
            <a:avLst/>
          </a:prstGeom>
          <a:noFill/>
          <a:ln/>
        </p:spPr>
        <p:txBody>
          <a:bodyPr wrap="none" lIns="0" tIns="0" rIns="0" bIns="0" rtlCol="0" anchor="t"/>
          <a:lstStyle/>
          <a:p>
            <a:pPr algn="ctr"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Time-to-Value</a:t>
            </a:r>
            <a:endParaRPr lang="en-US" sz="1200" dirty="0"/>
          </a:p>
        </p:txBody>
      </p:sp>
      <p:sp>
        <p:nvSpPr>
          <p:cNvPr id="11" name="Text 9"/>
          <p:cNvSpPr/>
          <p:nvPr/>
        </p:nvSpPr>
        <p:spPr>
          <a:xfrm>
            <a:off x="4649465" y="2724894"/>
            <a:ext cx="3998416" cy="39692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161613"/>
                </a:solidFill>
                <a:latin typeface="Inter" pitchFamily="34" charset="0"/>
                <a:ea typeface="Inter" pitchFamily="34" charset="-122"/>
                <a:cs typeface="Inter" pitchFamily="34" charset="-120"/>
              </a:rPr>
              <a:t>Target for users to reach their first meaningful outcome — a key activation milestone that predicts long-term retention.</a:t>
            </a:r>
            <a:endParaRPr lang="en-US" sz="950" dirty="0"/>
          </a:p>
        </p:txBody>
      </p:sp>
      <p:sp>
        <p:nvSpPr>
          <p:cNvPr id="12" name="Text 10"/>
          <p:cNvSpPr/>
          <p:nvPr/>
        </p:nvSpPr>
        <p:spPr>
          <a:xfrm>
            <a:off x="496119" y="3431828"/>
            <a:ext cx="3998342" cy="409352"/>
          </a:xfrm>
          <a:prstGeom prst="rect">
            <a:avLst/>
          </a:prstGeom>
          <a:noFill/>
          <a:ln/>
        </p:spPr>
        <p:txBody>
          <a:bodyPr wrap="none" lIns="0" tIns="0" rIns="0" bIns="0" rtlCol="0" anchor="t"/>
          <a:lstStyle/>
          <a:p>
            <a:pPr algn="ctr" indent="0" marL="0">
              <a:lnSpc>
                <a:spcPct val="83000"/>
              </a:lnSpc>
              <a:buNone/>
            </a:pPr>
            <a:r>
              <a:rPr lang="en-US" sz="3200" dirty="0">
                <a:solidFill>
                  <a:srgbClr val="161613"/>
                </a:solidFill>
                <a:latin typeface="DM Sans Medium" pitchFamily="34" charset="0"/>
                <a:ea typeface="DM Sans Medium" pitchFamily="34" charset="-122"/>
                <a:cs typeface="DM Sans Medium" pitchFamily="34" charset="-120"/>
              </a:rPr>
              <a:t>80%</a:t>
            </a:r>
            <a:endParaRPr lang="en-US" sz="3200" dirty="0"/>
          </a:p>
        </p:txBody>
      </p:sp>
      <p:sp>
        <p:nvSpPr>
          <p:cNvPr id="13" name="Text 11"/>
          <p:cNvSpPr/>
          <p:nvPr/>
        </p:nvSpPr>
        <p:spPr>
          <a:xfrm>
            <a:off x="496119" y="3996184"/>
            <a:ext cx="3998342" cy="193849"/>
          </a:xfrm>
          <a:prstGeom prst="rect">
            <a:avLst/>
          </a:prstGeom>
          <a:noFill/>
          <a:ln/>
        </p:spPr>
        <p:txBody>
          <a:bodyPr wrap="none" lIns="0" tIns="0" rIns="0" bIns="0" rtlCol="0" anchor="t"/>
          <a:lstStyle/>
          <a:p>
            <a:pPr algn="ctr"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Activation Rate</a:t>
            </a:r>
            <a:endParaRPr lang="en-US" sz="1200" dirty="0"/>
          </a:p>
        </p:txBody>
      </p:sp>
      <p:sp>
        <p:nvSpPr>
          <p:cNvPr id="14" name="Text 12"/>
          <p:cNvSpPr/>
          <p:nvPr/>
        </p:nvSpPr>
        <p:spPr>
          <a:xfrm>
            <a:off x="496119" y="4264447"/>
            <a:ext cx="3998342" cy="39692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161613"/>
                </a:solidFill>
                <a:latin typeface="Inter" pitchFamily="34" charset="0"/>
                <a:ea typeface="Inter" pitchFamily="34" charset="-122"/>
                <a:cs typeface="Inter" pitchFamily="34" charset="-120"/>
              </a:rPr>
              <a:t>Percentage of users who complete onboarding and engage with core features within the first week.</a:t>
            </a:r>
            <a:endParaRPr lang="en-US" sz="950" dirty="0"/>
          </a:p>
        </p:txBody>
      </p:sp>
      <p:sp>
        <p:nvSpPr>
          <p:cNvPr id="15" name="Text 13"/>
          <p:cNvSpPr/>
          <p:nvPr/>
        </p:nvSpPr>
        <p:spPr>
          <a:xfrm>
            <a:off x="4649465" y="3431828"/>
            <a:ext cx="3998416" cy="409352"/>
          </a:xfrm>
          <a:prstGeom prst="rect">
            <a:avLst/>
          </a:prstGeom>
          <a:noFill/>
          <a:ln/>
        </p:spPr>
        <p:txBody>
          <a:bodyPr wrap="none" lIns="0" tIns="0" rIns="0" bIns="0" rtlCol="0" anchor="t"/>
          <a:lstStyle/>
          <a:p>
            <a:pPr algn="ctr" indent="0" marL="0">
              <a:lnSpc>
                <a:spcPct val="83000"/>
              </a:lnSpc>
              <a:buNone/>
            </a:pPr>
            <a:r>
              <a:rPr lang="en-US" sz="3200" dirty="0">
                <a:solidFill>
                  <a:srgbClr val="161613"/>
                </a:solidFill>
                <a:latin typeface="DM Sans Medium" pitchFamily="34" charset="0"/>
                <a:ea typeface="DM Sans Medium" pitchFamily="34" charset="-122"/>
                <a:cs typeface="DM Sans Medium" pitchFamily="34" charset="-120"/>
              </a:rPr>
              <a:t>&lt;5%</a:t>
            </a:r>
            <a:endParaRPr lang="en-US" sz="3200" dirty="0"/>
          </a:p>
        </p:txBody>
      </p:sp>
      <p:sp>
        <p:nvSpPr>
          <p:cNvPr id="16" name="Text 14"/>
          <p:cNvSpPr/>
          <p:nvPr/>
        </p:nvSpPr>
        <p:spPr>
          <a:xfrm>
            <a:off x="4649465" y="3996184"/>
            <a:ext cx="3998416" cy="193849"/>
          </a:xfrm>
          <a:prstGeom prst="rect">
            <a:avLst/>
          </a:prstGeom>
          <a:noFill/>
          <a:ln/>
        </p:spPr>
        <p:txBody>
          <a:bodyPr wrap="none" lIns="0" tIns="0" rIns="0" bIns="0" rtlCol="0" anchor="t"/>
          <a:lstStyle/>
          <a:p>
            <a:pPr algn="ctr"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Monthly Churn</a:t>
            </a:r>
            <a:endParaRPr lang="en-US" sz="1200" dirty="0"/>
          </a:p>
        </p:txBody>
      </p:sp>
      <p:sp>
        <p:nvSpPr>
          <p:cNvPr id="17" name="Text 15"/>
          <p:cNvSpPr/>
          <p:nvPr/>
        </p:nvSpPr>
        <p:spPr>
          <a:xfrm>
            <a:off x="4649465" y="4264447"/>
            <a:ext cx="3998416" cy="396925"/>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161613"/>
                </a:solidFill>
                <a:latin typeface="Inter" pitchFamily="34" charset="0"/>
                <a:ea typeface="Inter" pitchFamily="34" charset="-122"/>
                <a:cs typeface="Inter" pitchFamily="34" charset="-120"/>
              </a:rPr>
              <a:t>Target churn rate by end of Q2, driven by feature adoption, proactive support, and continuous product improvement.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408533"/>
            <a:ext cx="1139726" cy="188565"/>
          </a:xfrm>
          <a:prstGeom prst="roundRect">
            <a:avLst>
              <a:gd name="adj" fmla="val 7894"/>
            </a:avLst>
          </a:prstGeom>
          <a:noFill/>
          <a:ln w="4763">
            <a:solidFill>
              <a:srgbClr val="28282F"/>
            </a:solidFill>
            <a:prstDash val="solid"/>
          </a:ln>
        </p:spPr>
      </p:sp>
      <p:sp>
        <p:nvSpPr>
          <p:cNvPr id="3" name="Text 1"/>
          <p:cNvSpPr/>
          <p:nvPr/>
        </p:nvSpPr>
        <p:spPr>
          <a:xfrm>
            <a:off x="570533" y="445740"/>
            <a:ext cx="1448098" cy="114151"/>
          </a:xfrm>
          <a:prstGeom prst="rect">
            <a:avLst/>
          </a:prstGeom>
          <a:noFill/>
          <a:ln/>
        </p:spPr>
        <p:txBody>
          <a:bodyPr wrap="none" lIns="0" tIns="0" rIns="0" bIns="0" rtlCol="0" anchor="t"/>
          <a:lstStyle/>
          <a:p>
            <a:pPr algn="l" indent="0" marL="0">
              <a:lnSpc>
                <a:spcPct val="96000"/>
              </a:lnSpc>
              <a:buNone/>
            </a:pPr>
            <a:r>
              <a:rPr lang="en-US" sz="750" dirty="0">
                <a:solidFill>
                  <a:srgbClr val="28282F"/>
                </a:solidFill>
                <a:latin typeface="Inter" pitchFamily="34" charset="0"/>
                <a:ea typeface="Inter" pitchFamily="34" charset="-122"/>
                <a:cs typeface="Inter" pitchFamily="34" charset="-120"/>
              </a:rPr>
              <a:t>GROWTH STRATEGY</a:t>
            </a:r>
            <a:endParaRPr lang="en-US" sz="750" dirty="0"/>
          </a:p>
        </p:txBody>
      </p:sp>
      <p:sp>
        <p:nvSpPr>
          <p:cNvPr id="4" name="Text 2"/>
          <p:cNvSpPr/>
          <p:nvPr/>
        </p:nvSpPr>
        <p:spPr>
          <a:xfrm>
            <a:off x="496119" y="646658"/>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Growth Dynamics</a:t>
            </a:r>
            <a:endParaRPr lang="en-US" sz="2400" dirty="0"/>
          </a:p>
        </p:txBody>
      </p:sp>
      <p:sp>
        <p:nvSpPr>
          <p:cNvPr id="5" name="Shape 3"/>
          <p:cNvSpPr/>
          <p:nvPr/>
        </p:nvSpPr>
        <p:spPr>
          <a:xfrm>
            <a:off x="406822" y="1220242"/>
            <a:ext cx="3680445" cy="3514725"/>
          </a:xfrm>
          <a:prstGeom prst="roundRect">
            <a:avLst>
              <a:gd name="adj" fmla="val 529"/>
            </a:avLst>
          </a:prstGeom>
          <a:solidFill>
            <a:srgbClr val="28282F"/>
          </a:solidFill>
          <a:ln/>
        </p:spPr>
      </p:sp>
      <p:sp>
        <p:nvSpPr>
          <p:cNvPr id="6" name="Text 4"/>
          <p:cNvSpPr/>
          <p:nvPr/>
        </p:nvSpPr>
        <p:spPr>
          <a:xfrm>
            <a:off x="530796" y="1344216"/>
            <a:ext cx="3432497"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DM Sans Medium" pitchFamily="34" charset="0"/>
                <a:ea typeface="DM Sans Medium" pitchFamily="34" charset="-122"/>
                <a:cs typeface="DM Sans Medium" pitchFamily="34" charset="-120"/>
              </a:rPr>
              <a:t>Revenue Expansion</a:t>
            </a:r>
            <a:endParaRPr lang="en-US" sz="1200" dirty="0"/>
          </a:p>
        </p:txBody>
      </p:sp>
      <p:sp>
        <p:nvSpPr>
          <p:cNvPr id="7" name="Text 5"/>
          <p:cNvSpPr/>
          <p:nvPr/>
        </p:nvSpPr>
        <p:spPr>
          <a:xfrm>
            <a:off x="530796" y="1662038"/>
            <a:ext cx="3432497"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Inter" pitchFamily="34" charset="0"/>
                <a:ea typeface="Inter" pitchFamily="34" charset="-122"/>
                <a:cs typeface="Inter" pitchFamily="34" charset="-120"/>
              </a:rPr>
              <a:t>Tier-based pricing drives natural upgrade paths. As teams grow and use cases expand, the platform's value becomes self-evident — converting free users to paid, and paid users to enterprise.</a:t>
            </a:r>
            <a:endParaRPr lang="en-US" sz="950" dirty="0"/>
          </a:p>
        </p:txBody>
      </p:sp>
      <p:sp>
        <p:nvSpPr>
          <p:cNvPr id="8" name="Shape 6"/>
          <p:cNvSpPr/>
          <p:nvPr/>
        </p:nvSpPr>
        <p:spPr>
          <a:xfrm>
            <a:off x="530796" y="2626370"/>
            <a:ext cx="3432497" cy="14288"/>
          </a:xfrm>
          <a:prstGeom prst="roundRect">
            <a:avLst>
              <a:gd name="adj" fmla="val 59998"/>
            </a:avLst>
          </a:prstGeom>
          <a:solidFill>
            <a:srgbClr val="FFFFFF">
              <a:alpha val="50000"/>
            </a:srgbClr>
          </a:solidFill>
          <a:ln/>
        </p:spPr>
      </p:sp>
      <p:sp>
        <p:nvSpPr>
          <p:cNvPr id="9" name="Text 7"/>
          <p:cNvSpPr/>
          <p:nvPr/>
        </p:nvSpPr>
        <p:spPr>
          <a:xfrm>
            <a:off x="530796" y="2811140"/>
            <a:ext cx="3432497"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DM Sans Medium" pitchFamily="34" charset="0"/>
                <a:ea typeface="DM Sans Medium" pitchFamily="34" charset="-122"/>
                <a:cs typeface="DM Sans Medium" pitchFamily="34" charset="-120"/>
              </a:rPr>
              <a:t>Infrastructure Readiness</a:t>
            </a:r>
            <a:endParaRPr lang="en-US" sz="1200" dirty="0"/>
          </a:p>
        </p:txBody>
      </p:sp>
      <p:sp>
        <p:nvSpPr>
          <p:cNvPr id="10" name="Text 8"/>
          <p:cNvSpPr/>
          <p:nvPr/>
        </p:nvSpPr>
        <p:spPr>
          <a:xfrm>
            <a:off x="530796" y="3128963"/>
            <a:ext cx="3432497"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Inter" pitchFamily="34" charset="0"/>
                <a:ea typeface="Inter" pitchFamily="34" charset="-122"/>
                <a:cs typeface="Inter" pitchFamily="34" charset="-120"/>
              </a:rPr>
              <a:t>Our architecture is built to absorb rapid adoption without degradation. Auto-scaling, distributed databases, and CDN optimization ensure performance at any volume.</a:t>
            </a:r>
            <a:endParaRPr lang="en-US" sz="950" dirty="0"/>
          </a:p>
        </p:txBody>
      </p:sp>
      <p:pic>
        <p:nvPicPr>
          <p:cNvPr id="1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305300" y="1359768"/>
            <a:ext cx="310083" cy="310083"/>
          </a:xfrm>
          <a:prstGeom prst="rect">
            <a:avLst/>
          </a:prstGeom>
        </p:spPr>
      </p:pic>
      <p:sp>
        <p:nvSpPr>
          <p:cNvPr id="12" name="Text 9"/>
          <p:cNvSpPr/>
          <p:nvPr/>
        </p:nvSpPr>
        <p:spPr>
          <a:xfrm>
            <a:off x="4770388" y="1359768"/>
            <a:ext cx="3882182"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Expansion Revenue</a:t>
            </a:r>
            <a:endParaRPr lang="en-US" sz="1200" dirty="0"/>
          </a:p>
        </p:txBody>
      </p:sp>
      <p:sp>
        <p:nvSpPr>
          <p:cNvPr id="13" name="Text 10"/>
          <p:cNvSpPr/>
          <p:nvPr/>
        </p:nvSpPr>
        <p:spPr>
          <a:xfrm>
            <a:off x="4770388" y="1677591"/>
            <a:ext cx="388218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Upsell and cross-sell motion built into the product experience. Usage-based triggers prompt timely upgrade conversations, increasing LTV without friction.</a:t>
            </a:r>
            <a:endParaRPr lang="en-US" sz="950" dirty="0"/>
          </a:p>
        </p:txBody>
      </p:sp>
      <p:pic>
        <p:nvPicPr>
          <p:cNvPr id="1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05300" y="2521000"/>
            <a:ext cx="310083" cy="310083"/>
          </a:xfrm>
          <a:prstGeom prst="rect">
            <a:avLst/>
          </a:prstGeom>
        </p:spPr>
      </p:pic>
      <p:sp>
        <p:nvSpPr>
          <p:cNvPr id="15" name="Text 11"/>
          <p:cNvSpPr/>
          <p:nvPr/>
        </p:nvSpPr>
        <p:spPr>
          <a:xfrm>
            <a:off x="4770388" y="2521000"/>
            <a:ext cx="3882182"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Competitive Moat</a:t>
            </a:r>
            <a:endParaRPr lang="en-US" sz="1200" dirty="0"/>
          </a:p>
        </p:txBody>
      </p:sp>
      <p:sp>
        <p:nvSpPr>
          <p:cNvPr id="16" name="Text 12"/>
          <p:cNvSpPr/>
          <p:nvPr/>
        </p:nvSpPr>
        <p:spPr>
          <a:xfrm>
            <a:off x="4770388" y="2838822"/>
            <a:ext cx="388218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Continuous iteration and customer feedback loops ensure we stay ahead. Every release compounds our advantage, making migration increasingly costly for customers.</a:t>
            </a:r>
            <a:endParaRPr lang="en-US" sz="950" dirty="0"/>
          </a:p>
        </p:txBody>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05300" y="3682231"/>
            <a:ext cx="310083" cy="310083"/>
          </a:xfrm>
          <a:prstGeom prst="rect">
            <a:avLst/>
          </a:prstGeom>
        </p:spPr>
      </p:pic>
      <p:sp>
        <p:nvSpPr>
          <p:cNvPr id="18" name="Text 13"/>
          <p:cNvSpPr/>
          <p:nvPr/>
        </p:nvSpPr>
        <p:spPr>
          <a:xfrm>
            <a:off x="4770388" y="3682231"/>
            <a:ext cx="3882182"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Ecosystem Growth</a:t>
            </a:r>
            <a:endParaRPr lang="en-US" sz="1200" dirty="0"/>
          </a:p>
        </p:txBody>
      </p:sp>
      <p:sp>
        <p:nvSpPr>
          <p:cNvPr id="19" name="Text 14"/>
          <p:cNvSpPr/>
          <p:nvPr/>
        </p:nvSpPr>
        <p:spPr>
          <a:xfrm>
            <a:off x="4770388" y="4000054"/>
            <a:ext cx="388218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Strategic integrations and partner programs extend our reach into adjacent markets, creating network effects that accelerate organic growth.</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834851"/>
            <a:ext cx="815132" cy="188565"/>
          </a:xfrm>
          <a:prstGeom prst="roundRect">
            <a:avLst>
              <a:gd name="adj" fmla="val 7894"/>
            </a:avLst>
          </a:prstGeom>
          <a:solidFill>
            <a:srgbClr val="E3E3E8"/>
          </a:solidFill>
          <a:ln/>
        </p:spPr>
      </p:sp>
      <p:sp>
        <p:nvSpPr>
          <p:cNvPr id="3" name="Text 1"/>
          <p:cNvSpPr/>
          <p:nvPr/>
        </p:nvSpPr>
        <p:spPr>
          <a:xfrm>
            <a:off x="570533" y="872058"/>
            <a:ext cx="1123504" cy="114151"/>
          </a:xfrm>
          <a:prstGeom prst="rect">
            <a:avLst/>
          </a:prstGeom>
          <a:noFill/>
          <a:ln/>
        </p:spPr>
        <p:txBody>
          <a:bodyPr wrap="none" lIns="0" tIns="0" rIns="0" bIns="0" rtlCol="0" anchor="t"/>
          <a:lstStyle/>
          <a:p>
            <a:pPr algn="l" indent="0" marL="0">
              <a:lnSpc>
                <a:spcPct val="96000"/>
              </a:lnSpc>
              <a:buNone/>
            </a:pPr>
            <a:r>
              <a:rPr lang="en-US" sz="750" dirty="0">
                <a:solidFill>
                  <a:srgbClr val="161613"/>
                </a:solidFill>
                <a:latin typeface="Inter" pitchFamily="34" charset="0"/>
                <a:ea typeface="Inter" pitchFamily="34" charset="-122"/>
                <a:cs typeface="Inter" pitchFamily="34" charset="-120"/>
              </a:rPr>
              <a:t>CONCLUSION</a:t>
            </a:r>
            <a:endParaRPr lang="en-US" sz="750" dirty="0"/>
          </a:p>
        </p:txBody>
      </p:sp>
      <p:sp>
        <p:nvSpPr>
          <p:cNvPr id="4" name="Text 2"/>
          <p:cNvSpPr/>
          <p:nvPr/>
        </p:nvSpPr>
        <p:spPr>
          <a:xfrm>
            <a:off x="496119" y="1072976"/>
            <a:ext cx="8151763" cy="387548"/>
          </a:xfrm>
          <a:prstGeom prst="rect">
            <a:avLst/>
          </a:prstGeom>
          <a:noFill/>
          <a:ln/>
        </p:spPr>
        <p:txBody>
          <a:bodyPr wrap="none" lIns="0" tIns="0" rIns="0" bIns="0" rtlCol="0" anchor="t"/>
          <a:lstStyle/>
          <a:p>
            <a:pPr algn="l" indent="0" marL="0">
              <a:lnSpc>
                <a:spcPct val="104000"/>
              </a:lnSpc>
              <a:buNone/>
            </a:pPr>
            <a:r>
              <a:rPr lang="en-US" sz="2400" dirty="0">
                <a:solidFill>
                  <a:srgbClr val="161613"/>
                </a:solidFill>
                <a:latin typeface="DM Sans Medium" pitchFamily="34" charset="0"/>
                <a:ea typeface="DM Sans Medium" pitchFamily="34" charset="-122"/>
                <a:cs typeface="DM Sans Medium" pitchFamily="34" charset="-120"/>
              </a:rPr>
              <a:t>The Road Ahead</a:t>
            </a:r>
            <a:endParaRPr lang="en-US" sz="2400" dirty="0"/>
          </a:p>
        </p:txBody>
      </p:sp>
      <p:sp>
        <p:nvSpPr>
          <p:cNvPr id="5" name="Text 3"/>
          <p:cNvSpPr/>
          <p:nvPr/>
        </p:nvSpPr>
        <p:spPr>
          <a:xfrm>
            <a:off x="496119" y="1646560"/>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This launch is not a destination — it is the beginning of a sustained journey toward market leadership. Every feature shipped, every metric tracked, and every customer conversation brings us closer to defining the future of our industry.</a:t>
            </a:r>
            <a:endParaRPr lang="en-US" sz="950" dirty="0"/>
          </a:p>
        </p:txBody>
      </p:sp>
      <p:sp>
        <p:nvSpPr>
          <p:cNvPr id="6" name="Shape 4"/>
          <p:cNvSpPr/>
          <p:nvPr/>
        </p:nvSpPr>
        <p:spPr>
          <a:xfrm>
            <a:off x="496119" y="2183011"/>
            <a:ext cx="2634555" cy="1508522"/>
          </a:xfrm>
          <a:prstGeom prst="roundRect">
            <a:avLst>
              <a:gd name="adj" fmla="val 1233"/>
            </a:avLst>
          </a:prstGeom>
          <a:solidFill>
            <a:srgbClr val="EDEBE3"/>
          </a:solidFill>
          <a:ln/>
        </p:spPr>
      </p:sp>
      <p:sp>
        <p:nvSpPr>
          <p:cNvPr id="7" name="Text 5"/>
          <p:cNvSpPr/>
          <p:nvPr/>
        </p:nvSpPr>
        <p:spPr>
          <a:xfrm>
            <a:off x="620092" y="2306985"/>
            <a:ext cx="2386608"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Our Path to Leadership</a:t>
            </a:r>
            <a:endParaRPr lang="en-US" sz="1200" dirty="0"/>
          </a:p>
        </p:txBody>
      </p:sp>
      <p:sp>
        <p:nvSpPr>
          <p:cNvPr id="8" name="Text 6"/>
          <p:cNvSpPr/>
          <p:nvPr/>
        </p:nvSpPr>
        <p:spPr>
          <a:xfrm>
            <a:off x="620092" y="2575247"/>
            <a:ext cx="238660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A clear roadmap, validated product-market fit, and a team aligned on a shared vision. The foundation is built. Now we execute.</a:t>
            </a:r>
            <a:endParaRPr lang="en-US" sz="950" dirty="0"/>
          </a:p>
        </p:txBody>
      </p:sp>
      <p:sp>
        <p:nvSpPr>
          <p:cNvPr id="9" name="Shape 7"/>
          <p:cNvSpPr/>
          <p:nvPr/>
        </p:nvSpPr>
        <p:spPr>
          <a:xfrm>
            <a:off x="3254648" y="2183011"/>
            <a:ext cx="2634630" cy="1508522"/>
          </a:xfrm>
          <a:prstGeom prst="roundRect">
            <a:avLst>
              <a:gd name="adj" fmla="val 1233"/>
            </a:avLst>
          </a:prstGeom>
          <a:solidFill>
            <a:srgbClr val="EDEBE3"/>
          </a:solidFill>
          <a:ln/>
        </p:spPr>
      </p:sp>
      <p:sp>
        <p:nvSpPr>
          <p:cNvPr id="10" name="Text 8"/>
          <p:cNvSpPr/>
          <p:nvPr/>
        </p:nvSpPr>
        <p:spPr>
          <a:xfrm>
            <a:off x="3378622" y="2306985"/>
            <a:ext cx="2386682"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Cross-Functional Alignment</a:t>
            </a:r>
            <a:endParaRPr lang="en-US" sz="1200" dirty="0"/>
          </a:p>
        </p:txBody>
      </p:sp>
      <p:sp>
        <p:nvSpPr>
          <p:cNvPr id="11" name="Text 9"/>
          <p:cNvSpPr/>
          <p:nvPr/>
        </p:nvSpPr>
        <p:spPr>
          <a:xfrm>
            <a:off x="3378622" y="2575247"/>
            <a:ext cx="2386682" cy="992312"/>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Engineering, product, marketing, sales, and customer success must move as one. Weekly syncs, shared metrics, and transparent communication are non-negotiable.</a:t>
            </a:r>
            <a:endParaRPr lang="en-US" sz="950" dirty="0"/>
          </a:p>
        </p:txBody>
      </p:sp>
      <p:sp>
        <p:nvSpPr>
          <p:cNvPr id="12" name="Shape 10"/>
          <p:cNvSpPr/>
          <p:nvPr/>
        </p:nvSpPr>
        <p:spPr>
          <a:xfrm>
            <a:off x="6013252" y="2183011"/>
            <a:ext cx="2634555" cy="1508522"/>
          </a:xfrm>
          <a:prstGeom prst="roundRect">
            <a:avLst>
              <a:gd name="adj" fmla="val 1233"/>
            </a:avLst>
          </a:prstGeom>
          <a:solidFill>
            <a:srgbClr val="EDEBE3"/>
          </a:solidFill>
          <a:ln/>
        </p:spPr>
      </p:sp>
      <p:sp>
        <p:nvSpPr>
          <p:cNvPr id="13" name="Text 11"/>
          <p:cNvSpPr/>
          <p:nvPr/>
        </p:nvSpPr>
        <p:spPr>
          <a:xfrm>
            <a:off x="6137225" y="2306985"/>
            <a:ext cx="2386608" cy="193849"/>
          </a:xfrm>
          <a:prstGeom prst="rect">
            <a:avLst/>
          </a:prstGeom>
          <a:noFill/>
          <a:ln/>
        </p:spPr>
        <p:txBody>
          <a:bodyPr wrap="none" lIns="0" tIns="0" rIns="0" bIns="0" rtlCol="0" anchor="t"/>
          <a:lstStyle/>
          <a:p>
            <a:pPr algn="l" indent="0" marL="0">
              <a:lnSpc>
                <a:spcPct val="104000"/>
              </a:lnSpc>
              <a:buNone/>
            </a:pPr>
            <a:r>
              <a:rPr lang="en-US" sz="1200" dirty="0">
                <a:solidFill>
                  <a:srgbClr val="161613"/>
                </a:solidFill>
                <a:latin typeface="DM Sans Medium" pitchFamily="34" charset="0"/>
                <a:ea typeface="DM Sans Medium" pitchFamily="34" charset="-122"/>
                <a:cs typeface="DM Sans Medium" pitchFamily="34" charset="-120"/>
              </a:rPr>
              <a:t>Shaping the Industry</a:t>
            </a:r>
            <a:endParaRPr lang="en-US" sz="1200" dirty="0"/>
          </a:p>
        </p:txBody>
      </p:sp>
      <p:sp>
        <p:nvSpPr>
          <p:cNvPr id="14" name="Text 12"/>
          <p:cNvSpPr/>
          <p:nvPr/>
        </p:nvSpPr>
        <p:spPr>
          <a:xfrm>
            <a:off x="6137225" y="2575247"/>
            <a:ext cx="238660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We are not just building a product — we are setting the standard. Every decision should reflect the ambition to lead, not follow.</a:t>
            </a:r>
            <a:endParaRPr lang="en-US" sz="950" dirty="0"/>
          </a:p>
        </p:txBody>
      </p:sp>
      <p:sp>
        <p:nvSpPr>
          <p:cNvPr id="15" name="Shape 13"/>
          <p:cNvSpPr/>
          <p:nvPr/>
        </p:nvSpPr>
        <p:spPr>
          <a:xfrm>
            <a:off x="496119" y="3831059"/>
            <a:ext cx="14288" cy="477515"/>
          </a:xfrm>
          <a:prstGeom prst="roundRect">
            <a:avLst>
              <a:gd name="adj" fmla="val 59998"/>
            </a:avLst>
          </a:prstGeom>
          <a:solidFill>
            <a:srgbClr val="28282F"/>
          </a:solidFill>
          <a:ln/>
        </p:spPr>
      </p:sp>
      <p:sp>
        <p:nvSpPr>
          <p:cNvPr id="16" name="Text 14"/>
          <p:cNvSpPr/>
          <p:nvPr/>
        </p:nvSpPr>
        <p:spPr>
          <a:xfrm>
            <a:off x="682154" y="3970586"/>
            <a:ext cx="8422928" cy="198462"/>
          </a:xfrm>
          <a:prstGeom prst="rect">
            <a:avLst/>
          </a:prstGeom>
          <a:noFill/>
          <a:ln/>
        </p:spPr>
        <p:txBody>
          <a:bodyPr wrap="none" lIns="0" tIns="0" rIns="0" bIns="0" rtlCol="0" anchor="t"/>
          <a:lstStyle/>
          <a:p>
            <a:pPr algn="l" indent="0" marL="0">
              <a:lnSpc>
                <a:spcPct val="133000"/>
              </a:lnSpc>
              <a:buNone/>
            </a:pPr>
            <a:r>
              <a:rPr lang="en-US" sz="950" dirty="0">
                <a:solidFill>
                  <a:srgbClr val="161613"/>
                </a:solidFill>
                <a:latin typeface="Inter" pitchFamily="34" charset="0"/>
                <a:ea typeface="Inter" pitchFamily="34" charset="-122"/>
                <a:cs typeface="Inter" pitchFamily="34" charset="-120"/>
              </a:rPr>
              <a:t>The best product launch is not a single event — it is the start of a movement. Let's build it together.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2026-07-16T09:40:38Z</dcterms:created>
  <dcterms:modified xsi:type="dcterms:W3CDTF">2026-07-16T09:40:38Z</dcterms:modified>
</cp:coreProperties>
</file>