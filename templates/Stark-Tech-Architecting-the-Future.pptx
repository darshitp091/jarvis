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Epilogue Thin"/>
      <p:regular r:id="rId201314"/>
    </p:embeddedFont>
    <p:embeddedFont>
      <p:font typeface="Epilogue ExtraLight"/>
      <p:regular r:id="rId201315"/>
    </p:embeddedFont>
    <p:embeddedFont>
      <p:font typeface="Epilogue Light"/>
      <p:regular r:id="rId201316"/>
    </p:embeddedFont>
    <p:embeddedFont>
      <p:font typeface="Epilogue"/>
      <p:regular r:id="rId201317"/>
    </p:embeddedFont>
    <p:embeddedFont>
      <p:font typeface="Epilogue Medium"/>
      <p:regular r:id="rId201318"/>
    </p:embeddedFont>
    <p:embeddedFont>
      <p:font typeface="Epilogue SemiBold"/>
      <p:regular r:id="rId201319"/>
    </p:embeddedFont>
    <p:embeddedFont>
      <p:font typeface="Epilogue ExtraBold"/>
      <p:regular r:id="rId201320"/>
    </p:embeddedFont>
    <p:embeddedFont>
      <p:font typeface="Epilogue Black"/>
      <p:regular r:id="rId201321"/>
    </p:embeddedFont>
    <p:embeddedFont>
      <p:font typeface="Epilogue Bold"/>
      <p:regular r:id="rId201322"/>
    </p:embeddedFont>
    <p:embeddedFont>
      <p:font typeface="Fraunces Light"/>
      <p:regular r:id="rId201323"/>
    </p:embeddedFont>
    <p:embeddedFont>
      <p:font typeface="Fraunces Thin"/>
      <p:regular r:id="rId201324"/>
    </p:embeddedFont>
    <p:embeddedFont>
      <p:font typeface="Fraunces ExtraLight"/>
      <p:regular r:id="rId201325"/>
    </p:embeddedFont>
    <p:embeddedFont>
      <p:font typeface="Fraunces"/>
      <p:regular r:id="rId201326"/>
    </p:embeddedFont>
    <p:embeddedFont>
      <p:font typeface="Fraunces Medium"/>
      <p:regular r:id="rId201327"/>
    </p:embeddedFont>
    <p:embeddedFont>
      <p:font typeface="Fraunces SemiBold"/>
      <p:regular r:id="rId201328"/>
    </p:embeddedFont>
    <p:embeddedFont>
      <p:font typeface="Fraunces Bold"/>
      <p:regular r:id="rId201329"/>
    </p:embeddedFont>
    <p:embeddedFont>
      <p:font typeface="Fraunces ExtraBold"/>
      <p:regular r:id="rId201330"/>
    </p:embeddedFont>
    <p:embeddedFont>
      <p:font typeface="Fraunces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2831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Stark-Tech: Architecting the Future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[Company Name]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[Vision Statement: One sentence that defines your mission and the future you are building]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319909"/>
            <a:ext cx="1626915" cy="215354"/>
          </a:xfrm>
          <a:prstGeom prst="roundRect">
            <a:avLst>
              <a:gd name="adj" fmla="val 22119"/>
            </a:avLst>
          </a:prstGeom>
          <a:solidFill>
            <a:srgbClr val="181E34"/>
          </a:solidFill>
          <a:ln/>
        </p:spPr>
      </p:sp>
      <p:sp>
        <p:nvSpPr>
          <p:cNvPr id="7" name="Text 4"/>
          <p:cNvSpPr/>
          <p:nvPr/>
        </p:nvSpPr>
        <p:spPr>
          <a:xfrm>
            <a:off x="4010174" y="3362399"/>
            <a:ext cx="19140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INVESTOR PITCH DECK · 2024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Current Landscape: A System in Flux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970187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Problem We're Solving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333402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Industries are held back by legacy infrastructure, fragmented data, and costly inefficiencies. The gap between what technology promises and what it delivers has never been wider.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3141390"/>
            <a:ext cx="517758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[Pain Point 1]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[Specific inefficiency or market gap]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[Pain Point 2]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[Cost, speed, or scalability bottleneck]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[Pain Point 3]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[Competitive or operational disadvantage]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08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Stark-Tech Solution: Precision Engineering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735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Three interconnected pillars form the foundation of our proprietary platform — each designed to eliminate a critical failure point in the current market.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80456"/>
            <a:ext cx="2622724" cy="2522116"/>
          </a:xfrm>
          <a:prstGeom prst="roundRect">
            <a:avLst>
              <a:gd name="adj" fmla="val 2361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2126977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243882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694012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[Pillar 1 — Core Technology]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3221980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[Describe the first value proposition: what it does, why it's unique, and the direct impact on the user or system]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1980456"/>
            <a:ext cx="2622724" cy="2522116"/>
          </a:xfrm>
          <a:prstGeom prst="roundRect">
            <a:avLst>
              <a:gd name="adj" fmla="val 2361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07122" y="2126977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243882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7122" y="2694012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[Pillar 2 — Platform Intelligence]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7122" y="3221980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[Describe the second value proposition: how it connects, automates, or scales beyond existing solutions]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5083" y="1980456"/>
            <a:ext cx="2622724" cy="2522116"/>
          </a:xfrm>
          <a:prstGeom prst="roundRect">
            <a:avLst>
              <a:gd name="adj" fmla="val 2361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1605" y="2126977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243882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1605" y="2694012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[Pillar 3 — Enterprise Reliability]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71605" y="3221980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[Describe the third value proposition: trust, security, compliance, or uptime guarantees that de-risk adoption]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799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Technical Architecture: The Engine Room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15752"/>
            <a:ext cx="2666926" cy="26669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4152" y="2042071"/>
            <a:ext cx="519841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Proprietary Stack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54152" y="2322686"/>
            <a:ext cx="519841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Our architecture is built from the ground up — not a patchwork of third-party tools. Every layer is owned, optimized, and defensible.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01306"/>
            <a:ext cx="2652415" cy="848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4907" y="4032945"/>
            <a:ext cx="233198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[Layer 1 — Core Engine]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84907" y="4274641"/>
            <a:ext cx="233198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[Proprietary technology or algorithm name and function]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5718" y="3901306"/>
            <a:ext cx="2652489" cy="848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34507" y="4032945"/>
            <a:ext cx="2332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[Layer 2 — Data Pipeline]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434507" y="4274641"/>
            <a:ext cx="233206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[Real-time processing, latency, throughput specs]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5392" y="3901306"/>
            <a:ext cx="2652415" cy="848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4181" y="4032945"/>
            <a:ext cx="233198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[Layer 3 — API &amp; Integrations]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184181" y="4274641"/>
            <a:ext cx="233198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[Enterprise connectivity, partner ecosystem, SDK details]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00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Market Opportunity: Scaling the Frontier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1654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 are targeting a rapidly expanding market with a clear path from initial beachhead to full-scale capture.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87367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$[XX]B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496119" y="2518618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TAM — Total Addressable Market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04658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[Global market size across all segments and geographies we could eventually serve]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2433" y="187367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$[XX]B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3272433" y="2518618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SAM — Serviceable Available Market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72433" y="304658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[Segment we can realistically reach with current product and go-to-market strategy]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48747" y="187367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$[XX]M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048747" y="2518618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SOM — Serviceable Obtainable Market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48747" y="304658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[Near-term capture within 24–36 months based on pipeline and traction]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886498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28315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087267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56816" y="406367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Market data sourced from [Source Name, Year]. CAGR of [XX]% projected through [Year].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21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Traction: The Velocity of Adoption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84659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Early momentum validates product-market fit. Our pilots and launches have generated measurable results ahead of schedule.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85465" y="2500536"/>
            <a:ext cx="163465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[XX]%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053" y="1669926"/>
            <a:ext cx="1993553" cy="19935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821237"/>
            <a:ext cx="261342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[Metric 1 — e.g., Pilot Conversion Rate]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96119" y="4311328"/>
            <a:ext cx="2613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[Context: number of pilots run, industries, or enterprise logos]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54636" y="2500536"/>
            <a:ext cx="163465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[XX]%</a:t>
            </a:r>
            <a:endParaRPr lang="en-US" sz="2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224" y="1669926"/>
            <a:ext cx="1993553" cy="19935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65289" y="3821237"/>
            <a:ext cx="261342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[Metric 2 — e.g., Month-over-Month Growth]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265289" y="4311328"/>
            <a:ext cx="2613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[Context: user acquisition, ARR growth, or engagement uplift]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523806" y="2500536"/>
            <a:ext cx="163465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[XX]%</a:t>
            </a:r>
            <a:endParaRPr lang="en-US" sz="2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394" y="1669926"/>
            <a:ext cx="1993553" cy="19935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4460" y="3821237"/>
            <a:ext cx="261342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[Metric 3 — e.g., Customer Retention / NPS]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034460" y="4311328"/>
            <a:ext cx="2613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[Context: renewal rates, satisfaction scores, or referral data]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Competitive Moat: Defying Industry Norms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35475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Stark-Tech Wins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506638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Competitors rely on legacy architectures, fragmented toolchains, or manual workflows. Our integrated, proprietary stack creates structural advantages that compound over time — and are nearly impossible to replicate quickly.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806154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[Differentiator 1]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[Specific technical or operational edge]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[Differentiator 2]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[IP, patents, data network effects, or partnerships]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[Differentiator 3]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[Speed, cost, or accuracy advantage vs. incumbents]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636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Go-to-Market: Tactical Execution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78483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phased rollout strategy designed to maximize early wins, validate unit economics, and scale with precision.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62475" y="1434480"/>
            <a:ext cx="19050" cy="3310384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5" name="Shape 3"/>
          <p:cNvSpPr/>
          <p:nvPr/>
        </p:nvSpPr>
        <p:spPr>
          <a:xfrm>
            <a:off x="4033726" y="1576908"/>
            <a:ext cx="405333" cy="19050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6" name="Shape 4"/>
          <p:cNvSpPr/>
          <p:nvPr/>
        </p:nvSpPr>
        <p:spPr>
          <a:xfrm>
            <a:off x="4420009" y="1434480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70648" y="1459781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96119" y="1480914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1 — [Launch]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19" y="1769269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[Target segment, pilot customers, initial geography — Months 1–6]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4941" y="2374925"/>
            <a:ext cx="405333" cy="19050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11" name="Shape 9"/>
          <p:cNvSpPr/>
          <p:nvPr/>
        </p:nvSpPr>
        <p:spPr>
          <a:xfrm>
            <a:off x="4420009" y="2232496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0648" y="2257797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47605" y="2278931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2 — [Expand]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47605" y="2567285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[New verticals, enterprise partnerships, channel development — Months 7–12]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33726" y="3067348"/>
            <a:ext cx="405333" cy="19050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16" name="Shape 14"/>
          <p:cNvSpPr/>
          <p:nvPr/>
        </p:nvSpPr>
        <p:spPr>
          <a:xfrm>
            <a:off x="4420009" y="2924919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0648" y="2950220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6119" y="2971354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3 — [Scale]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119" y="3259708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[International expansion, platform APIs, ecosystem growth — Year 2]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4941" y="3759845"/>
            <a:ext cx="405333" cy="19050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0009" y="3617416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0648" y="3642717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247605" y="3663851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4 — [Dominate]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47605" y="3952205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[Category leadership, M&amp;A activity, full market capture — Year 3+]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5094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Team: Architects of Innovation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10270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World-class operators and engineers with deep domain expertise, prior exits, and the execution track record to deliver.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6239"/>
            <a:ext cx="1511722" cy="15117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254201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[Founder &amp; CEO]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548509"/>
            <a:ext cx="260642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[Prior company / exit, years of experience, domain expertise — e.g., "Ex-[Company], 10+ years in [sector]"]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787" y="1576239"/>
            <a:ext cx="1511722" cy="15117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8787" y="3254201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[Co-Founder &amp; CTO]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68787" y="3548509"/>
            <a:ext cx="260642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[Technical background, patents, architecture experience — e.g., "Led engineering at [Company], scaled to [X]M users"]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454" y="1576239"/>
            <a:ext cx="1511722" cy="15117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1454" y="3254201"/>
            <a:ext cx="260642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[Key Executive — e.g., COO / CRO]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1454" y="3763045"/>
            <a:ext cx="260642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[Go-to-market, operations, or fundraising experience — e.g., "Former [Role] at [Company], drove $[X]M ARR"]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2831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87" y="92943"/>
            <a:ext cx="3305026" cy="49575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397520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Ask: Powering the Next Phase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925119" y="1335360"/>
            <a:ext cx="2307134" cy="1330449"/>
          </a:xfrm>
          <a:prstGeom prst="roundRect">
            <a:avLst>
              <a:gd name="adj" fmla="val 3916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3855" y="1464097"/>
            <a:ext cx="2049661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Funding Request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3855" y="1727820"/>
            <a:ext cx="2049661" cy="8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$[XX]M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[Seed / Series A / Series B]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[Instrument: Equity, SAFE, Convertible]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40748" y="1335360"/>
            <a:ext cx="2307134" cy="1330449"/>
          </a:xfrm>
          <a:prstGeom prst="roundRect">
            <a:avLst>
              <a:gd name="adj" fmla="val 3916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9484" y="1464097"/>
            <a:ext cx="2049661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Use of Funds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69484" y="1727820"/>
            <a:ext cx="2049661" cy="68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[XX]%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Product &amp; Engineering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[XX]%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Go-to-Market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[XX]%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Operations &amp; Talent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2774305"/>
            <a:ext cx="4722763" cy="1209526"/>
          </a:xfrm>
          <a:prstGeom prst="roundRect">
            <a:avLst>
              <a:gd name="adj" fmla="val 4307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3855" y="2903041"/>
            <a:ext cx="4465290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🏁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Milestones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53855" y="3166765"/>
            <a:ext cx="4465290" cy="68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[Milestone 1 — e.g., $X ARR by Q4]</a:t>
            </a:r>
            <a:endParaRPr lang="en-US" sz="950" dirty="0"/>
          </a:p>
          <a:p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[Milestone 2 — e.g., X enterprise logos]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[Milestone 3 — e.g., International launch]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4105870"/>
            <a:ext cx="4722763" cy="640110"/>
          </a:xfrm>
          <a:prstGeom prst="roundRect">
            <a:avLst>
              <a:gd name="adj" fmla="val 8139"/>
            </a:avLst>
          </a:prstGeom>
          <a:solidFill>
            <a:srgbClr val="28315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4280892"/>
            <a:ext cx="155004" cy="1239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28071" y="4245322"/>
            <a:ext cx="41958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Ready to build the future together?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Contact us at 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[email@stark-tech.io]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or schedule a follow-up at 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[calendly.com/stark-tech]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2026-07-16T08:53:15Z</dcterms:created>
  <dcterms:modified xsi:type="dcterms:W3CDTF">2026-07-16T08:53:15Z</dcterms:modified>
</cp:coreProperties>
</file>